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- 4 (Streaming Live RAG)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Pokermons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VITV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 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3- 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4- 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(add repo link)</a:t>
            </a:r>
            <a:endParaRPr/>
          </a:p>
          <a:p>
            <a:pPr indent="-76200" lvl="0" marL="1778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TextBox 96"/>
          <p:cNvSpPr txBox="1"/>
          <p:nvPr/>
        </p:nvSpPr>
        <p:spPr>
          <a:xfrm>
            <a:off x="777240" y="5989320"/>
            <a:ext cx="6035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6D28D9"/>
                </a:solidFill>
                <a:latin typeface="Calibri"/>
              </a:rPr>
              <a:t>DuplexRAG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 - retrieve while the user is still speaking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841248" y="1417320"/>
            <a:ext cx="5760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6D28D9"/>
                </a:solidFill>
                <a:latin typeface="Calibri"/>
              </a:rPr>
              <a:t>Theme 04 · Streaming Live RAG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1248" y="1920240"/>
            <a:ext cx="566928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4142B"/>
                </a:solidFill>
                <a:latin typeface="Calibri"/>
              </a:rPr>
              <a:t>In a full-duplex voice conversation people speak one natural request, not a tidy query.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500" b="1" i="0">
                <a:solidFill>
                  <a:srgbClr val="14142B"/>
                </a:solidFill>
                <a:latin typeface="Calibri"/>
              </a:rPr>
              <a:t>Hidden intents - </a:t>
            </a:r>
            <a:r>
              <a:rPr sz="1500" b="0" i="0">
                <a:solidFill>
                  <a:srgbClr val="14142B"/>
                </a:solidFill>
                <a:latin typeface="Calibri"/>
              </a:rPr>
              <a:t>one utterance often carries several questions.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500" b="1" i="0">
                <a:solidFill>
                  <a:srgbClr val="14142B"/>
                </a:solidFill>
                <a:latin typeface="Calibri"/>
              </a:rPr>
              <a:t>Latency - </a:t>
            </a:r>
            <a:r>
              <a:rPr sz="1500" b="0" i="0">
                <a:solidFill>
                  <a:srgbClr val="14142B"/>
                </a:solidFill>
                <a:latin typeface="Calibri"/>
              </a:rPr>
              <a:t>waiting for the end of speech before searching leaves dead air.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500" b="1" i="0">
                <a:solidFill>
                  <a:srgbClr val="14142B"/>
                </a:solidFill>
                <a:latin typeface="Calibri"/>
              </a:rPr>
              <a:t>Late details - </a:t>
            </a:r>
            <a:r>
              <a:rPr sz="1500" b="0" i="0">
                <a:solidFill>
                  <a:srgbClr val="14142B"/>
                </a:solidFill>
                <a:latin typeface="Calibri"/>
              </a:rPr>
              <a:t>"actually it's fifty people" must refine the answer, not restart it.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500" b="1" i="0">
                <a:solidFill>
                  <a:srgbClr val="14142B"/>
                </a:solidFill>
                <a:latin typeface="Calibri"/>
              </a:rPr>
              <a:t>Not every turn needs search - </a:t>
            </a:r>
            <a:r>
              <a:rPr sz="1500" b="0" i="0">
                <a:solidFill>
                  <a:srgbClr val="14142B"/>
                </a:solidFill>
                <a:latin typeface="Calibri"/>
              </a:rPr>
              <a:t>"repeat that in two bullets" is formatting.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500" b="1" i="0">
                <a:solidFill>
                  <a:srgbClr val="14142B"/>
                </a:solidFill>
                <a:latin typeface="Calibri"/>
              </a:rPr>
              <a:t>Trust - </a:t>
            </a:r>
            <a:r>
              <a:rPr sz="1500" b="0" i="0">
                <a:solidFill>
                  <a:srgbClr val="14142B"/>
                </a:solidFill>
                <a:latin typeface="Calibri"/>
              </a:rPr>
              <a:t>every claim must be grounded in the provided corpus, and gaps must be said out loud.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Goal: a cheap, CPU-only engine that retrieves during speech, answers every hidden intent with citations, and keeps the answer alive across the conversation.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812280" y="1463040"/>
            <a:ext cx="4572000" cy="4846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6995160" y="155448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63637E"/>
                </a:solidFill>
                <a:latin typeface="Calibri"/>
              </a:rPr>
              <a:t>One utterance, three hidden questions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995160" y="1965960"/>
            <a:ext cx="420624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7059168" y="1984248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0.0 s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"I need to plan a customer workshop in…"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995160" y="2532888"/>
            <a:ext cx="420624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7059168" y="2551176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0.8 s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"…Pune for 30 people, and I need…"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995160" y="3099815"/>
            <a:ext cx="420624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7059168" y="3118104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1.6 s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"…the cancellation policy and the catering options."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995160" y="3749039"/>
            <a:ext cx="1325880" cy="457200"/>
          </a:xfrm>
          <a:prstGeom prst="roundRect">
            <a:avLst>
              <a:gd name="adj" fmla="val 8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6995160" y="3749039"/>
            <a:ext cx="1325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venue capacity for 30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412480" y="3749039"/>
            <a:ext cx="1325880" cy="457200"/>
          </a:xfrm>
          <a:prstGeom prst="roundRect">
            <a:avLst>
              <a:gd name="adj" fmla="val 8000"/>
            </a:avLst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8412480" y="3749039"/>
            <a:ext cx="1325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cancellation terms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9829800" y="3749039"/>
            <a:ext cx="1325880" cy="457200"/>
          </a:xfrm>
          <a:prstGeom prst="roundRect">
            <a:avLst>
              <a:gd name="adj" fmla="val 8000"/>
            </a:avLst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9829800" y="3749039"/>
            <a:ext cx="1325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catering options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995160" y="4389120"/>
            <a:ext cx="42062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3637E"/>
                </a:solidFill>
                <a:latin typeface="Calibri"/>
              </a:rPr>
              <a:t>then: </a:t>
            </a:r>
            <a:r>
              <a:rPr sz="1300" b="0" i="1">
                <a:solidFill>
                  <a:srgbClr val="14142B"/>
                </a:solidFill>
                <a:latin typeface="Calibri"/>
              </a:rPr>
              <a:t>"Actually it's going to be fifty."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→ refine the capacity claim, keep the rest (v1 → v2)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3637E"/>
                </a:solidFill>
                <a:latin typeface="Calibri"/>
              </a:rPr>
              <a:t>then: </a:t>
            </a:r>
            <a:r>
              <a:rPr sz="1300" b="0" i="1">
                <a:solidFill>
                  <a:srgbClr val="14142B"/>
                </a:solidFill>
                <a:latin typeface="Calibri"/>
              </a:rPr>
              <a:t>"Can you repeat that in two bullets?"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→ no retrieval, same citations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graphicFrame>
        <p:nvGraphicFramePr>
          <p:cNvPr id="108" name="Table 107"/>
          <p:cNvGraphicFramePr>
            <a:graphicFrameLocks noGrp="1"/>
          </p:cNvGraphicFramePr>
          <p:nvPr/>
        </p:nvGraphicFramePr>
        <p:xfrm>
          <a:off x="841248" y="1554480"/>
          <a:ext cx="1051560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566160"/>
                <a:gridCol w="393192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Gap for full-duplex voice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Turn-based RAG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waits for end of speech, one query for the whole utterance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dead air while searching; compound requests get one blurred query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LLM query rewriting / multi-query (RAG-Fusion, HyDE)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an LLM rewrites or splits the query after the user stops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adds an LLM call to every turn: more latency and cost, and it can invent queries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Agentic RAG (plan → search → read loops)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multi-step tool use by an LLM agent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heavy orchestration and unpredictable latency - the brief asks for simple and cheap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Chat-history RAG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concatenates history into the next query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late details restart the search; context drifts; old citations are lost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Intent-based voice assistants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classify intent → fixed skill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no grounding in documents, no citations, no answer for long-tail policy questions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9" name="Rounded Rectangle 108"/>
          <p:cNvSpPr/>
          <p:nvPr/>
        </p:nvSpPr>
        <p:spPr>
          <a:xfrm>
            <a:off x="841248" y="5715000"/>
            <a:ext cx="10515600" cy="658368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1005840" y="5715000"/>
            <a:ext cx="1024128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The gap: nothing retrieves during speech, refines the answer in place and proves every claim - on a CPU budget, without an LLM in the loop.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pic>
        <p:nvPicPr>
          <p:cNvPr id="114" name="Picture 113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325880"/>
            <a:ext cx="10515600" cy="4918755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841248" y="6309360"/>
            <a:ext cx="10515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3637E"/>
                </a:solidFill>
                <a:latin typeface="Calibri"/>
              </a:rPr>
              <a:t>Event-driven: on_chunk() per ASR partial, end_turn() at end of speech; retrieval jobs run in the background while the user keeps talking.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Rounded Rectangle 119"/>
          <p:cNvSpPr/>
          <p:nvPr/>
        </p:nvSpPr>
        <p:spPr>
          <a:xfrm>
            <a:off x="841248" y="1463040"/>
            <a:ext cx="6949440" cy="274320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841248" y="1463040"/>
            <a:ext cx="6949440" cy="2743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63637E"/>
                </a:solidFill>
                <a:latin typeface="Calibri"/>
              </a:rPr>
              <a:t>[ui.png missing]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001000" y="1463040"/>
            <a:ext cx="3429000" cy="4937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1. Stream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replay a scenario, type, or speak (Chrome mic) - chunks arrive every ~1 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2. Watch the controller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WAIT / RETRIEVE / SUPPRESS per chunk; provisional and multi-intent searches fire mid-sentence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3. Grounded answer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one line per hidden intent, every claim cited; click a citation to see the source section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4. Late detail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"actually fifty people" → v2 with a diff: added / retained / retired claims, delta search only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5. Format request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"two bullets" → no retrieval, same citations; the trace and cost are downloadable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4142B"/>
                </a:solidFill>
                <a:latin typeface="Calibri"/>
              </a:rPr>
              <a:t>Demo video: </a:t>
            </a:r>
            <a:r>
              <a:rPr sz="1300" b="0" i="0">
                <a:solidFill>
                  <a:srgbClr val="2F80ED"/>
                </a:solidFill>
                <a:latin typeface="Calibri"/>
              </a:rPr>
              <a:t>submission/DuplexRAG_demo.mp4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Rounded Rectangle 125"/>
          <p:cNvSpPr/>
          <p:nvPr/>
        </p:nvSpPr>
        <p:spPr>
          <a:xfrm>
            <a:off x="841248" y="146304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Rectangle 126"/>
          <p:cNvSpPr/>
          <p:nvPr/>
        </p:nvSpPr>
        <p:spPr>
          <a:xfrm>
            <a:off x="841248" y="1572768"/>
            <a:ext cx="64008" cy="2112263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1024128" y="1554480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Models (CPU, ONNX)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BAAI bge-small-en-v1.5 - 33M bi-encoder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ms-marco-MiniLM-L-6-v2 - 22M cross-encoder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fastembed + ONNX Runtime, 4 threads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no GPU, no API keys, runs offline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407408" y="146304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Rectangle 129"/>
          <p:cNvSpPr/>
          <p:nvPr/>
        </p:nvSpPr>
        <p:spPr>
          <a:xfrm>
            <a:off x="4407408" y="1572768"/>
            <a:ext cx="64008" cy="2112263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4590288" y="1554480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F80ED"/>
                </a:solidFill>
                <a:latin typeface="Calibri"/>
              </a:rPr>
              <a:t>Retrieval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Okapi BM25 (NumPy, in-house)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dense cosine search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reciprocal-rank fusion (k=60)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cross-encoder rerank + sentence scoring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973568" y="146304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ectangle 132"/>
          <p:cNvSpPr/>
          <p:nvPr/>
        </p:nvSpPr>
        <p:spPr>
          <a:xfrm>
            <a:off x="7973568" y="1572768"/>
            <a:ext cx="64008" cy="2112263"/>
          </a:xfrm>
          <a:prstGeom prst="rect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8156448" y="1554480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E9E6A"/>
                </a:solidFill>
                <a:latin typeface="Calibri"/>
              </a:rPr>
              <a:t>Language layer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9E6A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rule-based spoken-language decomposer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9E6A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turn gate: rules + NumPy softmax classifier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9E6A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self-repair, spoken numbers, anaphora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9E6A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optional OpenAI-compatible LLM (verified)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841248" y="3977639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Rectangle 135"/>
          <p:cNvSpPr/>
          <p:nvPr/>
        </p:nvSpPr>
        <p:spPr>
          <a:xfrm>
            <a:off x="841248" y="4087368"/>
            <a:ext cx="64008" cy="2112263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1024128" y="4069079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D98E04"/>
                </a:solidFill>
                <a:latin typeface="Calibri"/>
              </a:rPr>
              <a:t>Serving &amp; UI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FastAPI + WebSocket (uvicorn)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vanilla JS live UI, Web Speech API mic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CLI: index / serve / replay / ask / bench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JSONL telemetry + JSON Schema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407408" y="3977639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Rectangle 138"/>
          <p:cNvSpPr/>
          <p:nvPr/>
        </p:nvSpPr>
        <p:spPr>
          <a:xfrm>
            <a:off x="4407408" y="4087368"/>
            <a:ext cx="64008" cy="2112263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4590288" y="4069079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Engineering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Python 3.12, uv lockfile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Docker Compose (one command)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pytest + smoke test (G1)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git, periodic commits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7973568" y="3977639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ectangle 141"/>
          <p:cNvSpPr/>
          <p:nvPr/>
        </p:nvSpPr>
        <p:spPr>
          <a:xfrm>
            <a:off x="7973568" y="4087368"/>
            <a:ext cx="64008" cy="2112263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8156448" y="4069079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F80ED"/>
                </a:solidFill>
                <a:latin typeface="Calibri"/>
              </a:rPr>
              <a:t>Evaluation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discrete-event streaming replay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4 benchmark splits, 3 written independently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baseline + 7 ablations, gates G1-G6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matplotlib figures, Playwright demo capture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Rounded Rectangle 131"/>
          <p:cNvSpPr/>
          <p:nvPr/>
        </p:nvSpPr>
        <p:spPr>
          <a:xfrm>
            <a:off x="841248" y="1463040"/>
            <a:ext cx="6035040" cy="109728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ectangle 132"/>
          <p:cNvSpPr/>
          <p:nvPr/>
        </p:nvSpPr>
        <p:spPr>
          <a:xfrm>
            <a:off x="841248" y="1572768"/>
            <a:ext cx="64008" cy="87782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1024128" y="1554480"/>
            <a:ext cx="57607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D28D9"/>
                </a:solidFill>
                <a:latin typeface="Calibri"/>
              </a:rPr>
              <a:t>Voice assistants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answer 'how do I…' questions from manuals, policies and settings docs while the user is still talking - with a source for every claim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841248" y="2679192"/>
            <a:ext cx="6035040" cy="109728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Rectangle 135"/>
          <p:cNvSpPr/>
          <p:nvPr/>
        </p:nvSpPr>
        <p:spPr>
          <a:xfrm>
            <a:off x="841248" y="2788920"/>
            <a:ext cx="64008" cy="877824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1024128" y="2770632"/>
            <a:ext cx="57607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F80ED"/>
                </a:solidFill>
                <a:latin typeface="Calibri"/>
              </a:rPr>
              <a:t>Contact-centre agent assist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surface the right policy clauses during a live call; refine as the caller adds details; no dead air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841248" y="3895344"/>
            <a:ext cx="6035040" cy="109728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Rectangle 138"/>
          <p:cNvSpPr/>
          <p:nvPr/>
        </p:nvSpPr>
        <p:spPr>
          <a:xfrm>
            <a:off x="841248" y="4005072"/>
            <a:ext cx="64008" cy="877824"/>
          </a:xfrm>
          <a:prstGeom prst="rect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1024128" y="3986783"/>
            <a:ext cx="57607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E9E6A"/>
                </a:solidFill>
                <a:latin typeface="Calibri"/>
              </a:rPr>
              <a:t>Enterprise helpdesk (HR / IT / travel)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compound, messy questions answered in one turn with explicit 'not in the policy' flags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841248" y="5111496"/>
            <a:ext cx="6035040" cy="109728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ectangle 141"/>
          <p:cNvSpPr/>
          <p:nvPr/>
        </p:nvSpPr>
        <p:spPr>
          <a:xfrm>
            <a:off x="841248" y="5221224"/>
            <a:ext cx="64008" cy="87782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1024128" y="5202936"/>
            <a:ext cx="57607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98E04"/>
                </a:solidFill>
                <a:latin typeface="Calibri"/>
              </a:rPr>
              <a:t>Hands-free field work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technicians and drivers ask by voice; CPU-only, offline-capable, cheap to run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7178040" y="146304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7269479" y="1536192"/>
            <a:ext cx="1828800" cy="72923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6D28D9"/>
                </a:solidFill>
                <a:latin typeface="Calibri"/>
              </a:rPr>
              <a:t>n/a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269479" y="2192274"/>
            <a:ext cx="1828800" cy="59664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median head start: retrieval begins before the user stops talking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9372600" y="146304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9464040" y="1536192"/>
            <a:ext cx="1828800" cy="72923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6D28D9"/>
                </a:solidFill>
                <a:latin typeface="Calibri"/>
              </a:rPr>
              <a:t>n/a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464040" y="2192274"/>
            <a:ext cx="1828800" cy="59664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median time to first token after speech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7178040" y="297180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7269479" y="3044952"/>
            <a:ext cx="1828800" cy="72923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63637E"/>
                </a:solidFill>
                <a:latin typeface="Calibri"/>
              </a:rPr>
              <a:t>n/a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269479" y="3701034"/>
            <a:ext cx="1828800" cy="59664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same stack without speculation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9372600" y="297180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9464040" y="3044952"/>
            <a:ext cx="1828800" cy="72923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6D28D9"/>
                </a:solidFill>
                <a:latin typeface="Calibri"/>
              </a:rPr>
              <a:t>n/a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464040" y="3701034"/>
            <a:ext cx="1828800" cy="59664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compute cost per turn (CPU only)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7178040" y="448056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TextBox 156"/>
          <p:cNvSpPr txBox="1"/>
          <p:nvPr/>
        </p:nvSpPr>
        <p:spPr>
          <a:xfrm>
            <a:off x="7269479" y="4553712"/>
            <a:ext cx="1828800" cy="72923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6D28D9"/>
                </a:solidFill>
                <a:latin typeface="Calibri"/>
              </a:rPr>
              <a:t>n/a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269479" y="5209794"/>
            <a:ext cx="1828800" cy="59664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claims supported by their citation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9372600" y="448056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9464040" y="4553712"/>
            <a:ext cx="1828800" cy="72923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6D28D9"/>
                </a:solidFill>
                <a:latin typeface="Calibri"/>
              </a:rPr>
              <a:t>n/a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464040" y="5209794"/>
            <a:ext cx="1828800" cy="59664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fabricated citation IDs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178040" y="5897880"/>
            <a:ext cx="42062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held-out test split, laptop CPU (Ryzen 5 4600H)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graphicFrame>
        <p:nvGraphicFramePr>
          <p:cNvPr id="138" name="Table 137"/>
          <p:cNvGraphicFramePr>
            <a:graphicFrameLocks noGrp="1"/>
          </p:cNvGraphicFramePr>
          <p:nvPr/>
        </p:nvGraphicFramePr>
        <p:xfrm>
          <a:off x="841248" y="1417320"/>
          <a:ext cx="6583680" cy="4325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1097280"/>
                <a:gridCol w="1051560"/>
                <a:gridCol w="1005840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Held-out test (30 sessions, 74 turns)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DuplexRAG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G2 retrieval starts before end of speech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&gt;= 80%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G2 false triggers on no-retrieval turns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G3 compound turns: &gt;= 2 intents isolated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&gt;= 70%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G4 claims supported by citation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&gt;= 85%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G4 fabricated citation IDs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G5 refinements: versioned, delta-only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G6 telemetry trace coverage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Retrieval hit@3 (gold section)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Key facts present in answer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TTFT p50 after end of speech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</a:tbl>
          </a:graphicData>
        </a:graphic>
      </p:graphicFrame>
      <p:sp>
        <p:nvSpPr>
          <p:cNvPr id="139" name="TextBox 138"/>
          <p:cNvSpPr txBox="1"/>
          <p:nvPr/>
        </p:nvSpPr>
        <p:spPr>
          <a:xfrm>
            <a:off x="841248" y="5806440"/>
            <a:ext cx="6583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Baseline = turn-based RAG: waits for end of speech, one dense query, no rerank, no session memory. G1: one-command Docker build + automated replay; smoke test passes from a clean checkout.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7680960" y="1417320"/>
            <a:ext cx="3703320" cy="260604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Rectangle 140"/>
          <p:cNvSpPr/>
          <p:nvPr/>
        </p:nvSpPr>
        <p:spPr>
          <a:xfrm>
            <a:off x="7680960" y="1527048"/>
            <a:ext cx="64008" cy="238658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7863840" y="1508760"/>
            <a:ext cx="3429000" cy="2423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Innovation highlights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00" b="0" i="0">
                <a:solidFill>
                  <a:srgbClr val="14142B"/>
                </a:solidFill>
                <a:latin typeface="Calibri"/>
              </a:rPr>
              <a:t>speculative per-clause retrieval with entity-aware reuse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00" b="0" i="0">
                <a:solidFill>
                  <a:srgbClr val="14142B"/>
                </a:solidFill>
                <a:latin typeface="Calibri"/>
              </a:rPr>
              <a:t>refine-in-place answer versions with claim diffs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00" b="0" i="0">
                <a:solidFill>
                  <a:srgbClr val="14142B"/>
                </a:solidFill>
                <a:latin typeface="Calibri"/>
              </a:rPr>
              <a:t>grounded by construction; claim-level verifier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00" b="0" i="0">
                <a:solidFill>
                  <a:srgbClr val="14142B"/>
                </a:solidFill>
                <a:latin typeface="Calibri"/>
              </a:rPr>
              <a:t>entity x aspect gaps said out loud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00" b="0" i="0">
                <a:solidFill>
                  <a:srgbClr val="14142B"/>
                </a:solidFill>
                <a:latin typeface="Calibri"/>
              </a:rPr>
              <a:t>no LLM needed: about $0.0001 per turn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7680960" y="4160520"/>
            <a:ext cx="370332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Rectangle 143"/>
          <p:cNvSpPr/>
          <p:nvPr/>
        </p:nvSpPr>
        <p:spPr>
          <a:xfrm>
            <a:off x="7680960" y="4270248"/>
            <a:ext cx="64008" cy="2112263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7863840" y="4251959"/>
            <a:ext cx="342900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D98E04"/>
                </a:solidFill>
                <a:latin typeface="Calibri"/>
              </a:rPr>
              <a:t>Limitations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150" b="0" i="0">
                <a:solidFill>
                  <a:srgbClr val="14142B"/>
                </a:solidFill>
                <a:latin typeface="Calibri"/>
              </a:rPr>
              <a:t>synthetic corpus (official corpus unavailable)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150" b="0" i="0">
                <a:solidFill>
                  <a:srgbClr val="14142B"/>
                </a:solidFill>
                <a:latin typeface="Calibri"/>
              </a:rPr>
              <a:t>extractive wording is less fluent than an LLM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150" b="0" i="0">
                <a:solidFill>
                  <a:srgbClr val="14142B"/>
                </a:solidFill>
                <a:latin typeface="Calibri"/>
              </a:rPr>
              <a:t>conservative 'not found': some unanswerables still get a related, cited answer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150" b="0" i="0">
                <a:solidFill>
                  <a:srgbClr val="14142B"/>
                </a:solidFill>
                <a:latin typeface="Calibri"/>
              </a:rPr>
              <a:t>speech simulated from transcripts (live mic in Chrome)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841248" y="146304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Oval 144"/>
          <p:cNvSpPr/>
          <p:nvPr/>
        </p:nvSpPr>
        <p:spPr>
          <a:xfrm>
            <a:off x="1024128" y="18288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24128" y="18288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847088" y="1600200"/>
            <a:ext cx="3977639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Plug in the official corpus + real ASR partials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streaming Whisper / on-device ASR; tune the stability gate on real partial-hypothesis revisions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6190488" y="146304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Oval 148"/>
          <p:cNvSpPr/>
          <p:nvPr/>
        </p:nvSpPr>
        <p:spPr>
          <a:xfrm>
            <a:off x="6373368" y="18288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73368" y="18288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196327" y="1600200"/>
            <a:ext cx="3977639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Learned stability controller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train the retrieve / wait policy from ASR confidence, prosody and pauses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841248" y="306324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1024128" y="34290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024128" y="34290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847088" y="3200400"/>
            <a:ext cx="3977639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Small verified on-device LLM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fluent phrasing through the existing claim verifier; stream into TTS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6190488" y="306324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6373368" y="34290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73368" y="34290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196327" y="3200400"/>
            <a:ext cx="3977639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Multilingual and code-mixed speech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Hindi-English, Korean; multilingual bi-encoder and cross-encoder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41248" y="466344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1024128" y="50292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024128" y="50292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847088" y="4800600"/>
            <a:ext cx="3977639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NPU / quantised models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int8 cross-encoder and cached sentence scores for sub-100 ms p95 on phones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6190488" y="466344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6373368" y="50292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73368" y="50292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96327" y="4800600"/>
            <a:ext cx="3977639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Barge-in aware answers (with Theme 5)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stop, refine and resume the spoken answer when the user interrupts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Rounded Rectangle 149"/>
          <p:cNvSpPr/>
          <p:nvPr/>
        </p:nvSpPr>
        <p:spPr>
          <a:xfrm>
            <a:off x="841248" y="146304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Rectangle 150"/>
          <p:cNvSpPr/>
          <p:nvPr/>
        </p:nvSpPr>
        <p:spPr>
          <a:xfrm>
            <a:off x="841248" y="1572768"/>
            <a:ext cx="64008" cy="2112263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1024128" y="1554480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80ED"/>
                </a:solidFill>
                <a:latin typeface="Calibri"/>
              </a:rPr>
              <a:t>Retrieves while you talk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searches fire mid-sentence and are reused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4407408" y="146304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Rectangle 153"/>
          <p:cNvSpPr/>
          <p:nvPr/>
        </p:nvSpPr>
        <p:spPr>
          <a:xfrm>
            <a:off x="4407408" y="1572768"/>
            <a:ext cx="64008" cy="2112263"/>
          </a:xfrm>
          <a:prstGeom prst="rect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4590288" y="1554480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E9E6A"/>
                </a:solidFill>
                <a:latin typeface="Calibri"/>
              </a:rPr>
              <a:t>Zero fabricated citations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n/a of claims verified against the cited section; IDs cannot be invented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7973568" y="146304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Rectangle 156"/>
          <p:cNvSpPr/>
          <p:nvPr/>
        </p:nvSpPr>
        <p:spPr>
          <a:xfrm>
            <a:off x="7973568" y="1572768"/>
            <a:ext cx="64008" cy="2112263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8156448" y="1554480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6D28D9"/>
                </a:solidFill>
                <a:latin typeface="Calibri"/>
              </a:rPr>
              <a:t>CPU-only, about $0.0001 per turn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two small ONNX models, no GPU, no API keys, works offline in Docker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841248" y="3977639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Rectangle 159"/>
          <p:cNvSpPr/>
          <p:nvPr/>
        </p:nvSpPr>
        <p:spPr>
          <a:xfrm>
            <a:off x="841248" y="4087368"/>
            <a:ext cx="64008" cy="2112263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1024128" y="4069079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80ED"/>
                </a:solidFill>
                <a:latin typeface="Calibri"/>
              </a:rPr>
              <a:t>Refine, don't restart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versioned answers with added / retained / retired claims; only the delta is searched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407408" y="3977639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Rectangle 162"/>
          <p:cNvSpPr/>
          <p:nvPr/>
        </p:nvSpPr>
        <p:spPr>
          <a:xfrm>
            <a:off x="4407408" y="4087368"/>
            <a:ext cx="64008" cy="2112263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4590288" y="4069079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D98E04"/>
                </a:solidFill>
                <a:latin typeface="Calibri"/>
              </a:rPr>
              <a:t>Says what it doesn't know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"catering for Hinjewadi Tech Park could not be verified" - entity x aspect coverage checks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7973568" y="3977639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Rectangle 165"/>
          <p:cNvSpPr/>
          <p:nvPr/>
        </p:nvSpPr>
        <p:spPr>
          <a:xfrm>
            <a:off x="7973568" y="4087368"/>
            <a:ext cx="64008" cy="2112263"/>
          </a:xfrm>
          <a:prstGeom prst="rect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TextBox 166"/>
          <p:cNvSpPr txBox="1"/>
          <p:nvPr/>
        </p:nvSpPr>
        <p:spPr>
          <a:xfrm>
            <a:off x="8156448" y="4069079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E9E6A"/>
                </a:solidFill>
                <a:latin typeface="Calibri"/>
              </a:rPr>
              <a:t>Measured honestly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discrete-event replay; held-out sets written independently after freezing; the earlier held-out run is reported too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Working prototype code — public or shared GitHub repo (Y): (add public repo link)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README with reproducible setup instructions (Y): README.md, Docker Compose, smoke test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Demo video, max 5 minutes (Y): submission/DuplexRAG_demo.mp4 in the repo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Presentation file (PPT or PDF) (Y): submission/VITV_Pokermons_Submission.pptx</a:t>
            </a:r>
            <a:endParaRPr sz="2800"/>
          </a:p>
          <a:p>
            <a:pPr indent="0" lvl="0" marL="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