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6263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- 4 (Streaming Live RAG)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 Pokermons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 VITV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Priyank Garg, priyank.garg2024@vitstudent.ac.in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2- Harshit Raj, harshit.raj2025@vitstudent.ac.in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3- Abhyuday Rai, abhyuday.rai2024@vitstudent.ac.in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4- 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Github link - https://github.com/abhyuday404/DuplexRAG</a:t>
            </a:r>
            <a:endParaRPr/>
          </a:p>
          <a:p>
            <a:pPr indent="-76200" lvl="0" marL="177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sz="1300"/>
              <a:t/>
            </a:r>
            <a:endParaRPr b="0" i="0" sz="1600" u="none" cap="none" strike="noStrike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ero_network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TextBox 96"/>
          <p:cNvSpPr txBox="1"/>
          <p:nvPr/>
        </p:nvSpPr>
        <p:spPr>
          <a:xfrm>
            <a:off x="777240" y="6309360"/>
            <a:ext cx="60350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D28D9"/>
                </a:solidFill>
                <a:latin typeface="Calibri"/>
              </a:rPr>
              <a:t>DuplexRAG</a:t>
            </a:r>
            <a:r>
              <a:rPr sz="1300" b="0" i="0">
                <a:solidFill>
                  <a:srgbClr val="63637E"/>
                </a:solidFill>
                <a:latin typeface="Calibri"/>
              </a:rPr>
              <a:t> - retrieve while the user is still speaking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841248" y="1417320"/>
            <a:ext cx="5760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6D28D9"/>
                </a:solidFill>
                <a:latin typeface="Calibri"/>
              </a:rPr>
              <a:t>Theme 04 · Streaming Live RAG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41248" y="1920240"/>
            <a:ext cx="5669280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4142B"/>
                </a:solidFill>
                <a:latin typeface="Calibri"/>
              </a:rPr>
              <a:t>In a full-duplex voice conversation people speak one natural request, not a tidy query.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6D28D9"/>
                </a:solidFill>
                <a:latin typeface="Calibri"/>
              </a:rPr>
              <a:t>• </a:t>
            </a:r>
            <a:r>
              <a:rPr sz="1500" b="1" i="0">
                <a:solidFill>
                  <a:srgbClr val="14142B"/>
                </a:solidFill>
                <a:latin typeface="Calibri"/>
              </a:rPr>
              <a:t>Hidden intents - </a:t>
            </a:r>
            <a:r>
              <a:rPr sz="1500" b="0" i="0">
                <a:solidFill>
                  <a:srgbClr val="14142B"/>
                </a:solidFill>
                <a:latin typeface="Calibri"/>
              </a:rPr>
              <a:t>one utterance often carries several questions.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6D28D9"/>
                </a:solidFill>
                <a:latin typeface="Calibri"/>
              </a:rPr>
              <a:t>• </a:t>
            </a:r>
            <a:r>
              <a:rPr sz="1500" b="1" i="0">
                <a:solidFill>
                  <a:srgbClr val="14142B"/>
                </a:solidFill>
                <a:latin typeface="Calibri"/>
              </a:rPr>
              <a:t>Latency - </a:t>
            </a:r>
            <a:r>
              <a:rPr sz="1500" b="0" i="0">
                <a:solidFill>
                  <a:srgbClr val="14142B"/>
                </a:solidFill>
                <a:latin typeface="Calibri"/>
              </a:rPr>
              <a:t>waiting for the end of speech before searching leaves dead air.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6D28D9"/>
                </a:solidFill>
                <a:latin typeface="Calibri"/>
              </a:rPr>
              <a:t>• </a:t>
            </a:r>
            <a:r>
              <a:rPr sz="1500" b="1" i="0">
                <a:solidFill>
                  <a:srgbClr val="14142B"/>
                </a:solidFill>
                <a:latin typeface="Calibri"/>
              </a:rPr>
              <a:t>Late details - </a:t>
            </a:r>
            <a:r>
              <a:rPr sz="1500" b="0" i="0">
                <a:solidFill>
                  <a:srgbClr val="14142B"/>
                </a:solidFill>
                <a:latin typeface="Calibri"/>
              </a:rPr>
              <a:t>"actually it's fifty people" must refine the answer, not restart it.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6D28D9"/>
                </a:solidFill>
                <a:latin typeface="Calibri"/>
              </a:rPr>
              <a:t>• </a:t>
            </a:r>
            <a:r>
              <a:rPr sz="1500" b="1" i="0">
                <a:solidFill>
                  <a:srgbClr val="14142B"/>
                </a:solidFill>
                <a:latin typeface="Calibri"/>
              </a:rPr>
              <a:t>Not every turn needs search - </a:t>
            </a:r>
            <a:r>
              <a:rPr sz="1500" b="0" i="0">
                <a:solidFill>
                  <a:srgbClr val="14142B"/>
                </a:solidFill>
                <a:latin typeface="Calibri"/>
              </a:rPr>
              <a:t>"repeat that in two bullets" is formatting.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6D28D9"/>
                </a:solidFill>
                <a:latin typeface="Calibri"/>
              </a:rPr>
              <a:t>• </a:t>
            </a:r>
            <a:r>
              <a:rPr sz="1500" b="1" i="0">
                <a:solidFill>
                  <a:srgbClr val="14142B"/>
                </a:solidFill>
                <a:latin typeface="Calibri"/>
              </a:rPr>
              <a:t>Trust - </a:t>
            </a:r>
            <a:r>
              <a:rPr sz="1500" b="0" i="0">
                <a:solidFill>
                  <a:srgbClr val="14142B"/>
                </a:solidFill>
                <a:latin typeface="Calibri"/>
              </a:rPr>
              <a:t>every claim must be grounded in the provided corpus, and gaps must be said out loud.</a:t>
            </a:r>
          </a:p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6D28D9"/>
                </a:solidFill>
                <a:latin typeface="Calibri"/>
              </a:rPr>
              <a:t>Goal: a cheap, CPU-only engine that retrieves during speech, answers every hidden intent with citations, and keeps the answer alive across the conversation.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812280" y="1463040"/>
            <a:ext cx="4572000" cy="4846320"/>
          </a:xfrm>
          <a:prstGeom prst="roundRect">
            <a:avLst>
              <a:gd name="adj" fmla="val 8000"/>
            </a:avLst>
          </a:prstGeom>
          <a:solidFill>
            <a:srgbClr val="F4F1FD"/>
          </a:solidFill>
          <a:ln w="12700">
            <a:solidFill>
              <a:srgbClr val="D9D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6995160" y="1554480"/>
            <a:ext cx="4206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63637E"/>
                </a:solidFill>
                <a:latin typeface="Calibri"/>
              </a:rPr>
              <a:t>One utterance, three hidden questions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995160" y="1965960"/>
            <a:ext cx="420624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7059168" y="1984248"/>
            <a:ext cx="41148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3637E"/>
                </a:solidFill>
                <a:latin typeface="Calibri"/>
              </a:rPr>
              <a:t>0.0 s  </a:t>
            </a:r>
            <a:r>
              <a:rPr sz="1300" b="0" i="0">
                <a:solidFill>
                  <a:srgbClr val="14142B"/>
                </a:solidFill>
                <a:latin typeface="Calibri"/>
              </a:rPr>
              <a:t>"I need to plan a customer workshop in…"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995160" y="2532888"/>
            <a:ext cx="420624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TextBox 108"/>
          <p:cNvSpPr txBox="1"/>
          <p:nvPr/>
        </p:nvSpPr>
        <p:spPr>
          <a:xfrm>
            <a:off x="7059168" y="2551176"/>
            <a:ext cx="41148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3637E"/>
                </a:solidFill>
                <a:latin typeface="Calibri"/>
              </a:rPr>
              <a:t>0.8 s  </a:t>
            </a:r>
            <a:r>
              <a:rPr sz="1300" b="0" i="0">
                <a:solidFill>
                  <a:srgbClr val="14142B"/>
                </a:solidFill>
                <a:latin typeface="Calibri"/>
              </a:rPr>
              <a:t>"…Pune for 30 people, and I need…"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995160" y="3099815"/>
            <a:ext cx="420624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7059168" y="3118104"/>
            <a:ext cx="41148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3637E"/>
                </a:solidFill>
                <a:latin typeface="Calibri"/>
              </a:rPr>
              <a:t>1.6 s  </a:t>
            </a:r>
            <a:r>
              <a:rPr sz="1300" b="0" i="0">
                <a:solidFill>
                  <a:srgbClr val="14142B"/>
                </a:solidFill>
                <a:latin typeface="Calibri"/>
              </a:rPr>
              <a:t>"…the cancellation policy and the catering options."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995160" y="3749039"/>
            <a:ext cx="1325880" cy="457200"/>
          </a:xfrm>
          <a:prstGeom prst="roundRect">
            <a:avLst>
              <a:gd name="adj" fmla="val 8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6995160" y="3749039"/>
            <a:ext cx="13258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venue capacity for 30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412480" y="3749039"/>
            <a:ext cx="1325880" cy="457200"/>
          </a:xfrm>
          <a:prstGeom prst="roundRect">
            <a:avLst>
              <a:gd name="adj" fmla="val 8000"/>
            </a:avLst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8412480" y="3749039"/>
            <a:ext cx="13258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cancellation terms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9829800" y="3749039"/>
            <a:ext cx="1325880" cy="457200"/>
          </a:xfrm>
          <a:prstGeom prst="roundRect">
            <a:avLst>
              <a:gd name="adj" fmla="val 8000"/>
            </a:avLst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9829800" y="3749039"/>
            <a:ext cx="13258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catering options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995160" y="4389120"/>
            <a:ext cx="420624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3637E"/>
                </a:solidFill>
                <a:latin typeface="Calibri"/>
              </a:rPr>
              <a:t>then: </a:t>
            </a:r>
            <a:r>
              <a:rPr sz="1300" b="0" i="1">
                <a:solidFill>
                  <a:srgbClr val="14142B"/>
                </a:solidFill>
                <a:latin typeface="Calibri"/>
              </a:rPr>
              <a:t>"Actually it's going to be fifty."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6D28D9"/>
                </a:solidFill>
                <a:latin typeface="Calibri"/>
              </a:rPr>
              <a:t>→ refine the capacity claim, keep the rest (v1 → v2)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3637E"/>
                </a:solidFill>
                <a:latin typeface="Calibri"/>
              </a:rPr>
              <a:t>then: </a:t>
            </a:r>
            <a:r>
              <a:rPr sz="1300" b="0" i="1">
                <a:solidFill>
                  <a:srgbClr val="14142B"/>
                </a:solidFill>
                <a:latin typeface="Calibri"/>
              </a:rPr>
              <a:t>"Can you repeat that in two bullets?"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D28D9"/>
                </a:solidFill>
                <a:latin typeface="Calibri"/>
              </a:rPr>
              <a:t>→ no retrieval, same citations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graphicFrame>
        <p:nvGraphicFramePr>
          <p:cNvPr id="108" name="Table 107"/>
          <p:cNvGraphicFramePr>
            <a:graphicFrameLocks noGrp="1"/>
          </p:cNvGraphicFramePr>
          <p:nvPr/>
        </p:nvGraphicFramePr>
        <p:xfrm>
          <a:off x="841248" y="1554480"/>
          <a:ext cx="1051560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566160"/>
                <a:gridCol w="393192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L="73152" marR="73152" marT="27432" marB="27432" anchor="ctr"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How it works</a:t>
                      </a:r>
                    </a:p>
                  </a:txBody>
                  <a:tcPr marL="73152" marR="73152" marT="27432" marB="27432" anchor="ctr"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Gap for full-duplex voice</a:t>
                      </a:r>
                    </a:p>
                  </a:txBody>
                  <a:tcPr marL="73152" marR="73152" marT="27432" marB="27432" anchor="ctr">
                    <a:solidFill>
                      <a:srgbClr val="6D28D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142B"/>
                          </a:solidFill>
                          <a:latin typeface="Calibri"/>
                        </a:rPr>
                        <a:t>Turn-based RAG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142B"/>
                          </a:solidFill>
                          <a:latin typeface="Calibri"/>
                        </a:rPr>
                        <a:t>waits for end of speech, one query for the whole utterance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142B"/>
                          </a:solidFill>
                          <a:latin typeface="Calibri"/>
                        </a:rPr>
                        <a:t>dead air while searching; compound requests get one blurred query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142B"/>
                          </a:solidFill>
                          <a:latin typeface="Calibri"/>
                        </a:rPr>
                        <a:t>LLM query rewriting / multi-query (RAG-Fusion, HyDE)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142B"/>
                          </a:solidFill>
                          <a:latin typeface="Calibri"/>
                        </a:rPr>
                        <a:t>an LLM rewrites or splits the query after the user stops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142B"/>
                          </a:solidFill>
                          <a:latin typeface="Calibri"/>
                        </a:rPr>
                        <a:t>adds an LLM call to every turn: more latency and cost, and it can invent queries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142B"/>
                          </a:solidFill>
                          <a:latin typeface="Calibri"/>
                        </a:rPr>
                        <a:t>Agentic RAG (plan → search → read loops)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142B"/>
                          </a:solidFill>
                          <a:latin typeface="Calibri"/>
                        </a:rPr>
                        <a:t>multi-step tool use by an LLM agent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142B"/>
                          </a:solidFill>
                          <a:latin typeface="Calibri"/>
                        </a:rPr>
                        <a:t>heavy orchestration and unpredictable latency - the brief asks for simple and cheap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142B"/>
                          </a:solidFill>
                          <a:latin typeface="Calibri"/>
                        </a:rPr>
                        <a:t>Chat-history RAG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142B"/>
                          </a:solidFill>
                          <a:latin typeface="Calibri"/>
                        </a:rPr>
                        <a:t>concatenates history into the next query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142B"/>
                          </a:solidFill>
                          <a:latin typeface="Calibri"/>
                        </a:rPr>
                        <a:t>late details restart the search; context drifts; old citations are lost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142B"/>
                          </a:solidFill>
                          <a:latin typeface="Calibri"/>
                        </a:rPr>
                        <a:t>Intent-based voice assistants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142B"/>
                          </a:solidFill>
                          <a:latin typeface="Calibri"/>
                        </a:rPr>
                        <a:t>classify intent → fixed skill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142B"/>
                          </a:solidFill>
                          <a:latin typeface="Calibri"/>
                        </a:rPr>
                        <a:t>no grounding in documents, no citations, no answer for long-tail policy questions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841248" y="5715000"/>
            <a:ext cx="10515600" cy="658368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1005840" y="5715000"/>
            <a:ext cx="1024128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 gap: nothing retrieves during speech, refines the answer in place and proves every claim - on a CPU budget, without an LLM in the loop.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pic>
        <p:nvPicPr>
          <p:cNvPr id="114" name="Picture 113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325880"/>
            <a:ext cx="10515600" cy="4918755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841248" y="6309360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3637E"/>
                </a:solidFill>
                <a:latin typeface="Calibri"/>
              </a:rPr>
              <a:t>Event-driven: on_chunk() per ASR partial, end_turn() at end of speech; retrieval jobs run in the background while the user keeps talking.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pic>
        <p:nvPicPr>
          <p:cNvPr id="120" name="Picture 119" descr="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463040"/>
            <a:ext cx="6949440" cy="3909060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8001000" y="1463040"/>
            <a:ext cx="3429000" cy="4937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6D28D9"/>
                </a:solidFill>
                <a:latin typeface="Calibri"/>
              </a:rPr>
              <a:t>1. Stream  </a:t>
            </a:r>
            <a:r>
              <a:rPr sz="1300" b="0" i="0">
                <a:solidFill>
                  <a:srgbClr val="14142B"/>
                </a:solidFill>
                <a:latin typeface="Calibri"/>
              </a:rPr>
              <a:t>replay a scenario, type, or speak (Chrome mic) - chunks arrive every ~1 s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6D28D9"/>
                </a:solidFill>
                <a:latin typeface="Calibri"/>
              </a:rPr>
              <a:t>2. Watch the controller  </a:t>
            </a:r>
            <a:r>
              <a:rPr sz="1300" b="0" i="0">
                <a:solidFill>
                  <a:srgbClr val="14142B"/>
                </a:solidFill>
                <a:latin typeface="Calibri"/>
              </a:rPr>
              <a:t>WAIT / RETRIEVE / SUPPRESS per chunk; provisional and multi-intent searches fire mid-sentence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6D28D9"/>
                </a:solidFill>
                <a:latin typeface="Calibri"/>
              </a:rPr>
              <a:t>3. Grounded answer  </a:t>
            </a:r>
            <a:r>
              <a:rPr sz="1300" b="0" i="0">
                <a:solidFill>
                  <a:srgbClr val="14142B"/>
                </a:solidFill>
                <a:latin typeface="Calibri"/>
              </a:rPr>
              <a:t>one line per hidden intent, every claim cited; click a citation to see the source section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6D28D9"/>
                </a:solidFill>
                <a:latin typeface="Calibri"/>
              </a:rPr>
              <a:t>4. Late detail  </a:t>
            </a:r>
            <a:r>
              <a:rPr sz="1300" b="0" i="0">
                <a:solidFill>
                  <a:srgbClr val="14142B"/>
                </a:solidFill>
                <a:latin typeface="Calibri"/>
              </a:rPr>
              <a:t>"actually fifty people" → v2 with a diff: added / retained / retired claims, delta search only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6D28D9"/>
                </a:solidFill>
                <a:latin typeface="Calibri"/>
              </a:rPr>
              <a:t>5. Format request  </a:t>
            </a:r>
            <a:r>
              <a:rPr sz="1300" b="0" i="0">
                <a:solidFill>
                  <a:srgbClr val="14142B"/>
                </a:solidFill>
                <a:latin typeface="Calibri"/>
              </a:rPr>
              <a:t>"two bullets" → no retrieval, same citations; the trace and cost are downloadable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4142B"/>
                </a:solidFill>
                <a:latin typeface="Calibri"/>
              </a:rPr>
              <a:t>Demo video: </a:t>
            </a:r>
            <a:r>
              <a:rPr sz="1300" b="0" i="0">
                <a:solidFill>
                  <a:srgbClr val="2F80ED"/>
                </a:solidFill>
                <a:latin typeface="Calibri"/>
              </a:rPr>
              <a:t>submission/DuplexRAG_demo.mp4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Rounded Rectangle 125"/>
          <p:cNvSpPr/>
          <p:nvPr/>
        </p:nvSpPr>
        <p:spPr>
          <a:xfrm>
            <a:off x="841248" y="1463040"/>
            <a:ext cx="3383280" cy="2331720"/>
          </a:xfrm>
          <a:prstGeom prst="roundRect">
            <a:avLst>
              <a:gd name="adj" fmla="val 8000"/>
            </a:avLst>
          </a:prstGeom>
          <a:solidFill>
            <a:srgbClr val="F4F1FD"/>
          </a:solidFill>
          <a:ln w="12700">
            <a:solidFill>
              <a:srgbClr val="D9D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Rectangle 126"/>
          <p:cNvSpPr/>
          <p:nvPr/>
        </p:nvSpPr>
        <p:spPr>
          <a:xfrm>
            <a:off x="841248" y="1572768"/>
            <a:ext cx="64008" cy="2112263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1024128" y="1554480"/>
            <a:ext cx="3108960" cy="21488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6D28D9"/>
                </a:solidFill>
                <a:latin typeface="Calibri"/>
              </a:rPr>
              <a:t>Models (CPU, ONNX)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6D28D9"/>
                </a:solidFill>
                <a:latin typeface="Calibri"/>
              </a:rPr>
              <a:t>• </a:t>
            </a:r>
            <a:r>
              <a:rPr sz="1250" b="0" i="0">
                <a:solidFill>
                  <a:srgbClr val="14142B"/>
                </a:solidFill>
                <a:latin typeface="Calibri"/>
              </a:rPr>
              <a:t>BAAI bge-small-en-v1.5 - 33M bi-encoder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6D28D9"/>
                </a:solidFill>
                <a:latin typeface="Calibri"/>
              </a:rPr>
              <a:t>• </a:t>
            </a:r>
            <a:r>
              <a:rPr sz="1250" b="0" i="0">
                <a:solidFill>
                  <a:srgbClr val="14142B"/>
                </a:solidFill>
                <a:latin typeface="Calibri"/>
              </a:rPr>
              <a:t>ms-marco-MiniLM-L-6-v2 - 22M cross-encoder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6D28D9"/>
                </a:solidFill>
                <a:latin typeface="Calibri"/>
              </a:rPr>
              <a:t>• </a:t>
            </a:r>
            <a:r>
              <a:rPr sz="1250" b="0" i="0">
                <a:solidFill>
                  <a:srgbClr val="14142B"/>
                </a:solidFill>
                <a:latin typeface="Calibri"/>
              </a:rPr>
              <a:t>fastembed + ONNX Runtime, 4 threads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6D28D9"/>
                </a:solidFill>
                <a:latin typeface="Calibri"/>
              </a:rPr>
              <a:t>• </a:t>
            </a:r>
            <a:r>
              <a:rPr sz="1250" b="0" i="0">
                <a:solidFill>
                  <a:srgbClr val="14142B"/>
                </a:solidFill>
                <a:latin typeface="Calibri"/>
              </a:rPr>
              <a:t>no GPU, no API keys, runs offline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4407408" y="1463040"/>
            <a:ext cx="3383280" cy="2331720"/>
          </a:xfrm>
          <a:prstGeom prst="roundRect">
            <a:avLst>
              <a:gd name="adj" fmla="val 8000"/>
            </a:avLst>
          </a:prstGeom>
          <a:solidFill>
            <a:srgbClr val="F4F1FD"/>
          </a:solidFill>
          <a:ln w="12700">
            <a:solidFill>
              <a:srgbClr val="D9D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Rectangle 129"/>
          <p:cNvSpPr/>
          <p:nvPr/>
        </p:nvSpPr>
        <p:spPr>
          <a:xfrm>
            <a:off x="4407408" y="1572768"/>
            <a:ext cx="64008" cy="2112263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TextBox 130"/>
          <p:cNvSpPr txBox="1"/>
          <p:nvPr/>
        </p:nvSpPr>
        <p:spPr>
          <a:xfrm>
            <a:off x="4590288" y="1554480"/>
            <a:ext cx="3108960" cy="21488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F80ED"/>
                </a:solidFill>
                <a:latin typeface="Calibri"/>
              </a:rPr>
              <a:t>Retrieval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2F80ED"/>
                </a:solidFill>
                <a:latin typeface="Calibri"/>
              </a:rPr>
              <a:t>• </a:t>
            </a:r>
            <a:r>
              <a:rPr sz="1250" b="0" i="0">
                <a:solidFill>
                  <a:srgbClr val="14142B"/>
                </a:solidFill>
                <a:latin typeface="Calibri"/>
              </a:rPr>
              <a:t>Okapi BM25 (NumPy, in-house)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2F80ED"/>
                </a:solidFill>
                <a:latin typeface="Calibri"/>
              </a:rPr>
              <a:t>• </a:t>
            </a:r>
            <a:r>
              <a:rPr sz="1250" b="0" i="0">
                <a:solidFill>
                  <a:srgbClr val="14142B"/>
                </a:solidFill>
                <a:latin typeface="Calibri"/>
              </a:rPr>
              <a:t>dense cosine search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2F80ED"/>
                </a:solidFill>
                <a:latin typeface="Calibri"/>
              </a:rPr>
              <a:t>• </a:t>
            </a:r>
            <a:r>
              <a:rPr sz="1250" b="0" i="0">
                <a:solidFill>
                  <a:srgbClr val="14142B"/>
                </a:solidFill>
                <a:latin typeface="Calibri"/>
              </a:rPr>
              <a:t>reciprocal-rank fusion (k=60)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2F80ED"/>
                </a:solidFill>
                <a:latin typeface="Calibri"/>
              </a:rPr>
              <a:t>• </a:t>
            </a:r>
            <a:r>
              <a:rPr sz="1250" b="0" i="0">
                <a:solidFill>
                  <a:srgbClr val="14142B"/>
                </a:solidFill>
                <a:latin typeface="Calibri"/>
              </a:rPr>
              <a:t>cross-encoder rerank + sentence scoring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7973568" y="1463040"/>
            <a:ext cx="3383280" cy="2331720"/>
          </a:xfrm>
          <a:prstGeom prst="roundRect">
            <a:avLst>
              <a:gd name="adj" fmla="val 8000"/>
            </a:avLst>
          </a:prstGeom>
          <a:solidFill>
            <a:srgbClr val="F4F1FD"/>
          </a:solidFill>
          <a:ln w="12700">
            <a:solidFill>
              <a:srgbClr val="D9D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Rectangle 132"/>
          <p:cNvSpPr/>
          <p:nvPr/>
        </p:nvSpPr>
        <p:spPr>
          <a:xfrm>
            <a:off x="7973568" y="1572768"/>
            <a:ext cx="64008" cy="2112263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8156448" y="1554480"/>
            <a:ext cx="3108960" cy="21488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9E6A"/>
                </a:solidFill>
                <a:latin typeface="Calibri"/>
              </a:rPr>
              <a:t>Language layer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E9E6A"/>
                </a:solidFill>
                <a:latin typeface="Calibri"/>
              </a:rPr>
              <a:t>• </a:t>
            </a:r>
            <a:r>
              <a:rPr sz="1250" b="0" i="0">
                <a:solidFill>
                  <a:srgbClr val="14142B"/>
                </a:solidFill>
                <a:latin typeface="Calibri"/>
              </a:rPr>
              <a:t>rule-based spoken-language decomposer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E9E6A"/>
                </a:solidFill>
                <a:latin typeface="Calibri"/>
              </a:rPr>
              <a:t>• </a:t>
            </a:r>
            <a:r>
              <a:rPr sz="1250" b="0" i="0">
                <a:solidFill>
                  <a:srgbClr val="14142B"/>
                </a:solidFill>
                <a:latin typeface="Calibri"/>
              </a:rPr>
              <a:t>turn gate: rules + NumPy softmax classifier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E9E6A"/>
                </a:solidFill>
                <a:latin typeface="Calibri"/>
              </a:rPr>
              <a:t>• </a:t>
            </a:r>
            <a:r>
              <a:rPr sz="1250" b="0" i="0">
                <a:solidFill>
                  <a:srgbClr val="14142B"/>
                </a:solidFill>
                <a:latin typeface="Calibri"/>
              </a:rPr>
              <a:t>self-repair, spoken numbers, anaphora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E9E6A"/>
                </a:solidFill>
                <a:latin typeface="Calibri"/>
              </a:rPr>
              <a:t>• </a:t>
            </a:r>
            <a:r>
              <a:rPr sz="1250" b="0" i="0">
                <a:solidFill>
                  <a:srgbClr val="14142B"/>
                </a:solidFill>
                <a:latin typeface="Calibri"/>
              </a:rPr>
              <a:t>optional OpenAI-compatible LLM (verified)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841248" y="3977639"/>
            <a:ext cx="3383280" cy="2331720"/>
          </a:xfrm>
          <a:prstGeom prst="roundRect">
            <a:avLst>
              <a:gd name="adj" fmla="val 8000"/>
            </a:avLst>
          </a:prstGeom>
          <a:solidFill>
            <a:srgbClr val="F4F1FD"/>
          </a:solidFill>
          <a:ln w="12700">
            <a:solidFill>
              <a:srgbClr val="D9D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Rectangle 135"/>
          <p:cNvSpPr/>
          <p:nvPr/>
        </p:nvSpPr>
        <p:spPr>
          <a:xfrm>
            <a:off x="841248" y="4087368"/>
            <a:ext cx="64008" cy="2112263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TextBox 136"/>
          <p:cNvSpPr txBox="1"/>
          <p:nvPr/>
        </p:nvSpPr>
        <p:spPr>
          <a:xfrm>
            <a:off x="1024128" y="4069079"/>
            <a:ext cx="3108960" cy="21488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D98E04"/>
                </a:solidFill>
                <a:latin typeface="Calibri"/>
              </a:rPr>
              <a:t>Serving &amp; UI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D98E04"/>
                </a:solidFill>
                <a:latin typeface="Calibri"/>
              </a:rPr>
              <a:t>• </a:t>
            </a:r>
            <a:r>
              <a:rPr sz="1250" b="0" i="0">
                <a:solidFill>
                  <a:srgbClr val="14142B"/>
                </a:solidFill>
                <a:latin typeface="Calibri"/>
              </a:rPr>
              <a:t>FastAPI + WebSocket (uvicorn)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D98E04"/>
                </a:solidFill>
                <a:latin typeface="Calibri"/>
              </a:rPr>
              <a:t>• </a:t>
            </a:r>
            <a:r>
              <a:rPr sz="1250" b="0" i="0">
                <a:solidFill>
                  <a:srgbClr val="14142B"/>
                </a:solidFill>
                <a:latin typeface="Calibri"/>
              </a:rPr>
              <a:t>vanilla JS live UI, Web Speech API mic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D98E04"/>
                </a:solidFill>
                <a:latin typeface="Calibri"/>
              </a:rPr>
              <a:t>• </a:t>
            </a:r>
            <a:r>
              <a:rPr sz="1250" b="0" i="0">
                <a:solidFill>
                  <a:srgbClr val="14142B"/>
                </a:solidFill>
                <a:latin typeface="Calibri"/>
              </a:rPr>
              <a:t>CLI: index / serve / replay / ask / bench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D98E04"/>
                </a:solidFill>
                <a:latin typeface="Calibri"/>
              </a:rPr>
              <a:t>• </a:t>
            </a:r>
            <a:r>
              <a:rPr sz="1250" b="0" i="0">
                <a:solidFill>
                  <a:srgbClr val="14142B"/>
                </a:solidFill>
                <a:latin typeface="Calibri"/>
              </a:rPr>
              <a:t>JSONL telemetry + JSON Schema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4407408" y="3977639"/>
            <a:ext cx="3383280" cy="2331720"/>
          </a:xfrm>
          <a:prstGeom prst="roundRect">
            <a:avLst>
              <a:gd name="adj" fmla="val 8000"/>
            </a:avLst>
          </a:prstGeom>
          <a:solidFill>
            <a:srgbClr val="F4F1FD"/>
          </a:solidFill>
          <a:ln w="12700">
            <a:solidFill>
              <a:srgbClr val="D9D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Rectangle 138"/>
          <p:cNvSpPr/>
          <p:nvPr/>
        </p:nvSpPr>
        <p:spPr>
          <a:xfrm>
            <a:off x="4407408" y="4087368"/>
            <a:ext cx="64008" cy="2112263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4590288" y="4069079"/>
            <a:ext cx="3108960" cy="21488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6D28D9"/>
                </a:solidFill>
                <a:latin typeface="Calibri"/>
              </a:rPr>
              <a:t>Engineering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6D28D9"/>
                </a:solidFill>
                <a:latin typeface="Calibri"/>
              </a:rPr>
              <a:t>• </a:t>
            </a:r>
            <a:r>
              <a:rPr sz="1250" b="0" i="0">
                <a:solidFill>
                  <a:srgbClr val="14142B"/>
                </a:solidFill>
                <a:latin typeface="Calibri"/>
              </a:rPr>
              <a:t>Python 3.12, uv lockfile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6D28D9"/>
                </a:solidFill>
                <a:latin typeface="Calibri"/>
              </a:rPr>
              <a:t>• </a:t>
            </a:r>
            <a:r>
              <a:rPr sz="1250" b="0" i="0">
                <a:solidFill>
                  <a:srgbClr val="14142B"/>
                </a:solidFill>
                <a:latin typeface="Calibri"/>
              </a:rPr>
              <a:t>Docker Compose (one command)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6D28D9"/>
                </a:solidFill>
                <a:latin typeface="Calibri"/>
              </a:rPr>
              <a:t>• </a:t>
            </a:r>
            <a:r>
              <a:rPr sz="1250" b="0" i="0">
                <a:solidFill>
                  <a:srgbClr val="14142B"/>
                </a:solidFill>
                <a:latin typeface="Calibri"/>
              </a:rPr>
              <a:t>pytest + smoke test (G1)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6D28D9"/>
                </a:solidFill>
                <a:latin typeface="Calibri"/>
              </a:rPr>
              <a:t>• </a:t>
            </a:r>
            <a:r>
              <a:rPr sz="1250" b="0" i="0">
                <a:solidFill>
                  <a:srgbClr val="14142B"/>
                </a:solidFill>
                <a:latin typeface="Calibri"/>
              </a:rPr>
              <a:t>git, periodic commits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7973568" y="3977639"/>
            <a:ext cx="3383280" cy="2331720"/>
          </a:xfrm>
          <a:prstGeom prst="roundRect">
            <a:avLst>
              <a:gd name="adj" fmla="val 8000"/>
            </a:avLst>
          </a:prstGeom>
          <a:solidFill>
            <a:srgbClr val="F4F1FD"/>
          </a:solidFill>
          <a:ln w="12700">
            <a:solidFill>
              <a:srgbClr val="D9D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Rectangle 141"/>
          <p:cNvSpPr/>
          <p:nvPr/>
        </p:nvSpPr>
        <p:spPr>
          <a:xfrm>
            <a:off x="7973568" y="4087368"/>
            <a:ext cx="64008" cy="2112263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TextBox 142"/>
          <p:cNvSpPr txBox="1"/>
          <p:nvPr/>
        </p:nvSpPr>
        <p:spPr>
          <a:xfrm>
            <a:off x="8156448" y="4069079"/>
            <a:ext cx="3108960" cy="21488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F80ED"/>
                </a:solidFill>
                <a:latin typeface="Calibri"/>
              </a:rPr>
              <a:t>Evaluation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2F80ED"/>
                </a:solidFill>
                <a:latin typeface="Calibri"/>
              </a:rPr>
              <a:t>• </a:t>
            </a:r>
            <a:r>
              <a:rPr sz="1250" b="0" i="0">
                <a:solidFill>
                  <a:srgbClr val="14142B"/>
                </a:solidFill>
                <a:latin typeface="Calibri"/>
              </a:rPr>
              <a:t>discrete-event streaming replay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2F80ED"/>
                </a:solidFill>
                <a:latin typeface="Calibri"/>
              </a:rPr>
              <a:t>• </a:t>
            </a:r>
            <a:r>
              <a:rPr sz="1250" b="0" i="0">
                <a:solidFill>
                  <a:srgbClr val="14142B"/>
                </a:solidFill>
                <a:latin typeface="Calibri"/>
              </a:rPr>
              <a:t>4 independently written benchmark splits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2F80ED"/>
                </a:solidFill>
                <a:latin typeface="Calibri"/>
              </a:rPr>
              <a:t>• </a:t>
            </a:r>
            <a:r>
              <a:rPr sz="1250" b="0" i="0">
                <a:solidFill>
                  <a:srgbClr val="14142B"/>
                </a:solidFill>
                <a:latin typeface="Calibri"/>
              </a:rPr>
              <a:t>baseline + 7 ablations, gates G1-G6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2F80ED"/>
                </a:solidFill>
                <a:latin typeface="Calibri"/>
              </a:rPr>
              <a:t>• </a:t>
            </a:r>
            <a:r>
              <a:rPr sz="1250" b="0" i="0">
                <a:solidFill>
                  <a:srgbClr val="14142B"/>
                </a:solidFill>
                <a:latin typeface="Calibri"/>
              </a:rPr>
              <a:t>matplotlib figures, Playwright demo capture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Rounded Rectangle 131"/>
          <p:cNvSpPr/>
          <p:nvPr/>
        </p:nvSpPr>
        <p:spPr>
          <a:xfrm>
            <a:off x="841248" y="1463040"/>
            <a:ext cx="6035040" cy="1097280"/>
          </a:xfrm>
          <a:prstGeom prst="roundRect">
            <a:avLst>
              <a:gd name="adj" fmla="val 8000"/>
            </a:avLst>
          </a:prstGeom>
          <a:solidFill>
            <a:srgbClr val="F4F1FD"/>
          </a:solidFill>
          <a:ln w="12700">
            <a:solidFill>
              <a:srgbClr val="D9D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Rectangle 132"/>
          <p:cNvSpPr/>
          <p:nvPr/>
        </p:nvSpPr>
        <p:spPr>
          <a:xfrm>
            <a:off x="841248" y="1572768"/>
            <a:ext cx="64008" cy="87782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1024128" y="1554480"/>
            <a:ext cx="57607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D28D9"/>
                </a:solidFill>
                <a:latin typeface="Calibri"/>
              </a:rPr>
              <a:t>Voice assistants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4142B"/>
                </a:solidFill>
                <a:latin typeface="Calibri"/>
              </a:rPr>
              <a:t>answer 'how do I…' questions from manuals, policies and settings docs while the user is still talking - with a source for every claim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841248" y="2679192"/>
            <a:ext cx="6035040" cy="1097280"/>
          </a:xfrm>
          <a:prstGeom prst="roundRect">
            <a:avLst>
              <a:gd name="adj" fmla="val 8000"/>
            </a:avLst>
          </a:prstGeom>
          <a:solidFill>
            <a:srgbClr val="F4F1FD"/>
          </a:solidFill>
          <a:ln w="12700">
            <a:solidFill>
              <a:srgbClr val="D9D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Rectangle 135"/>
          <p:cNvSpPr/>
          <p:nvPr/>
        </p:nvSpPr>
        <p:spPr>
          <a:xfrm>
            <a:off x="841248" y="2788920"/>
            <a:ext cx="64008" cy="877824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TextBox 136"/>
          <p:cNvSpPr txBox="1"/>
          <p:nvPr/>
        </p:nvSpPr>
        <p:spPr>
          <a:xfrm>
            <a:off x="1024128" y="2770632"/>
            <a:ext cx="57607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F80ED"/>
                </a:solidFill>
                <a:latin typeface="Calibri"/>
              </a:rPr>
              <a:t>Contact-centre agent assist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4142B"/>
                </a:solidFill>
                <a:latin typeface="Calibri"/>
              </a:rPr>
              <a:t>surface the right policy clauses during a live call; refine as the caller adds details; no dead air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841248" y="3895344"/>
            <a:ext cx="6035040" cy="1097280"/>
          </a:xfrm>
          <a:prstGeom prst="roundRect">
            <a:avLst>
              <a:gd name="adj" fmla="val 8000"/>
            </a:avLst>
          </a:prstGeom>
          <a:solidFill>
            <a:srgbClr val="F4F1FD"/>
          </a:solidFill>
          <a:ln w="12700">
            <a:solidFill>
              <a:srgbClr val="D9D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Rectangle 138"/>
          <p:cNvSpPr/>
          <p:nvPr/>
        </p:nvSpPr>
        <p:spPr>
          <a:xfrm>
            <a:off x="841248" y="4005072"/>
            <a:ext cx="64008" cy="877824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1024128" y="3986783"/>
            <a:ext cx="57607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9E6A"/>
                </a:solidFill>
                <a:latin typeface="Calibri"/>
              </a:rPr>
              <a:t>Enterprise helpdesk (HR / IT / travel)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4142B"/>
                </a:solidFill>
                <a:latin typeface="Calibri"/>
              </a:rPr>
              <a:t>compound, messy questions answered in one turn with explicit 'not in the policy' flags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841248" y="5111496"/>
            <a:ext cx="6035040" cy="1097280"/>
          </a:xfrm>
          <a:prstGeom prst="roundRect">
            <a:avLst>
              <a:gd name="adj" fmla="val 8000"/>
            </a:avLst>
          </a:prstGeom>
          <a:solidFill>
            <a:srgbClr val="F4F1FD"/>
          </a:solidFill>
          <a:ln w="12700">
            <a:solidFill>
              <a:srgbClr val="D9D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Rectangle 141"/>
          <p:cNvSpPr/>
          <p:nvPr/>
        </p:nvSpPr>
        <p:spPr>
          <a:xfrm>
            <a:off x="841248" y="5221224"/>
            <a:ext cx="64008" cy="877824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TextBox 142"/>
          <p:cNvSpPr txBox="1"/>
          <p:nvPr/>
        </p:nvSpPr>
        <p:spPr>
          <a:xfrm>
            <a:off x="1024128" y="5202936"/>
            <a:ext cx="57607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98E04"/>
                </a:solidFill>
                <a:latin typeface="Calibri"/>
              </a:rPr>
              <a:t>Hands-free field work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4142B"/>
                </a:solidFill>
                <a:latin typeface="Calibri"/>
              </a:rPr>
              <a:t>technicians and drivers ask by voice; CPU-only, offline-capable, cheap to run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7178040" y="1463040"/>
            <a:ext cx="20116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TextBox 144"/>
          <p:cNvSpPr txBox="1"/>
          <p:nvPr/>
        </p:nvSpPr>
        <p:spPr>
          <a:xfrm>
            <a:off x="7269479" y="1536192"/>
            <a:ext cx="1828800" cy="72923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D28D9"/>
                </a:solidFill>
                <a:latin typeface="Calibri"/>
              </a:rPr>
              <a:t>3.2 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269479" y="2192274"/>
            <a:ext cx="1828800" cy="59664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median head start: retrieval begins before the user stops talking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9372600" y="1463040"/>
            <a:ext cx="20116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9464040" y="1536192"/>
            <a:ext cx="1828800" cy="72923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D28D9"/>
                </a:solidFill>
                <a:latin typeface="Calibri"/>
              </a:rPr>
              <a:t>7 ms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464040" y="2192274"/>
            <a:ext cx="1828800" cy="59664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median time to first token after speech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7178040" y="2971800"/>
            <a:ext cx="20116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TextBox 150"/>
          <p:cNvSpPr txBox="1"/>
          <p:nvPr/>
        </p:nvSpPr>
        <p:spPr>
          <a:xfrm>
            <a:off x="7269479" y="3044952"/>
            <a:ext cx="1828800" cy="72923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3637E"/>
                </a:solidFill>
                <a:latin typeface="Calibri"/>
              </a:rPr>
              <a:t>614 ms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269479" y="3701034"/>
            <a:ext cx="1828800" cy="59664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same stack without speculation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9372600" y="2971800"/>
            <a:ext cx="20116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9464040" y="3044952"/>
            <a:ext cx="1828800" cy="72923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D28D9"/>
                </a:solidFill>
                <a:latin typeface="Calibri"/>
              </a:rPr>
              <a:t>$0.00007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464040" y="3701034"/>
            <a:ext cx="1828800" cy="59664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compute cost per turn (CPU only)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7178040" y="4480560"/>
            <a:ext cx="20116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TextBox 156"/>
          <p:cNvSpPr txBox="1"/>
          <p:nvPr/>
        </p:nvSpPr>
        <p:spPr>
          <a:xfrm>
            <a:off x="7269479" y="4553712"/>
            <a:ext cx="1828800" cy="72923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D28D9"/>
                </a:solidFill>
                <a:latin typeface="Calibri"/>
              </a:rPr>
              <a:t>100%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269479" y="5209794"/>
            <a:ext cx="1828800" cy="59664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claims supported by their citation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372600" y="4480560"/>
            <a:ext cx="20116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TextBox 159"/>
          <p:cNvSpPr txBox="1"/>
          <p:nvPr/>
        </p:nvSpPr>
        <p:spPr>
          <a:xfrm>
            <a:off x="9464040" y="4553712"/>
            <a:ext cx="1828800" cy="72923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D28D9"/>
                </a:solidFill>
                <a:latin typeface="Calibri"/>
              </a:rPr>
              <a:t>0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464040" y="5209794"/>
            <a:ext cx="1828800" cy="59664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fabricated citation IDs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178040" y="5897880"/>
            <a:ext cx="42062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3637E"/>
                </a:solidFill>
                <a:latin typeface="Calibri"/>
              </a:rPr>
              <a:t>held-out test split, laptop CPU (Ryzen 5 4600H)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b="1" sz="4400">
              <a:solidFill>
                <a:srgbClr val="704EA6"/>
              </a:solidFill>
            </a:endParaRPr>
          </a:p>
        </p:txBody>
      </p:sp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841248" y="1417320"/>
          <a:ext cx="6583680" cy="4325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1097280"/>
                <a:gridCol w="1051560"/>
                <a:gridCol w="1005840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Held-out test (30 sessions, 74 turns)</a:t>
                      </a:r>
                    </a:p>
                  </a:txBody>
                  <a:tcPr marL="73152" marR="73152" marT="27432" marB="27432" anchor="ctr"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DuplexRAG</a:t>
                      </a:r>
                    </a:p>
                  </a:txBody>
                  <a:tcPr marL="73152" marR="73152" marT="27432" marB="27432" anchor="ctr"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73152" marR="73152" marT="27432" marB="27432" anchor="ctr"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73152" marR="73152" marT="27432" marB="27432" anchor="ctr">
                    <a:solidFill>
                      <a:srgbClr val="6D28D9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G2 retrieval starts before end of speech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&gt;= 80%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G2 false triggers on no-retrieval turns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G3 compound turns: &gt;= 2 intents isolated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83%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&gt;= 70%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G4 claims supported by citation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&gt;= 85%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G4 fabricated citation IDs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G5 refinements: versioned, delta-only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88%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G6 telemetry trace coverage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Retrieval hit@3 (gold section)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89%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69%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Key facts present in answer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56%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51%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TTFT p50 after end of speech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7 ms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>11 ms</a:t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4F1FD"/>
                    </a:solidFill>
                  </a:tcPr>
                </a:tc>
              </a:tr>
            </a:tbl>
          </a:graphicData>
        </a:graphic>
      </p:graphicFrame>
      <p:sp>
        <p:nvSpPr>
          <p:cNvPr id="139" name="TextBox 138"/>
          <p:cNvSpPr txBox="1"/>
          <p:nvPr/>
        </p:nvSpPr>
        <p:spPr>
          <a:xfrm>
            <a:off x="841248" y="5806440"/>
            <a:ext cx="6583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3637E"/>
                </a:solidFill>
                <a:latin typeface="Calibri"/>
              </a:rPr>
              <a:t>Baseline = turn-based RAG: waits for end of speech, one dense query, no rerank, no session memory. G1: one-command Docker build + automated replay; smoke test passes from a clean checkout.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7680960" y="1417320"/>
            <a:ext cx="3703320" cy="2606040"/>
          </a:xfrm>
          <a:prstGeom prst="roundRect">
            <a:avLst>
              <a:gd name="adj" fmla="val 8000"/>
            </a:avLst>
          </a:prstGeom>
          <a:solidFill>
            <a:srgbClr val="F4F1FD"/>
          </a:solidFill>
          <a:ln w="12700">
            <a:solidFill>
              <a:srgbClr val="D9D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Rectangle 140"/>
          <p:cNvSpPr/>
          <p:nvPr/>
        </p:nvSpPr>
        <p:spPr>
          <a:xfrm>
            <a:off x="7680960" y="1527048"/>
            <a:ext cx="64008" cy="238658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TextBox 141"/>
          <p:cNvSpPr txBox="1"/>
          <p:nvPr/>
        </p:nvSpPr>
        <p:spPr>
          <a:xfrm>
            <a:off x="7863840" y="1508760"/>
            <a:ext cx="3429000" cy="2423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6D28D9"/>
                </a:solidFill>
                <a:latin typeface="Calibri"/>
              </a:rPr>
              <a:t>Innovation highlights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6D28D9"/>
                </a:solidFill>
                <a:latin typeface="Calibri"/>
              </a:rPr>
              <a:t>• </a:t>
            </a:r>
            <a:r>
              <a:rPr sz="1200" b="0" i="0">
                <a:solidFill>
                  <a:srgbClr val="14142B"/>
                </a:solidFill>
                <a:latin typeface="Calibri"/>
              </a:rPr>
              <a:t>speculative per-clause retrieval with entity-aware reuse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6D28D9"/>
                </a:solidFill>
                <a:latin typeface="Calibri"/>
              </a:rPr>
              <a:t>• </a:t>
            </a:r>
            <a:r>
              <a:rPr sz="1200" b="0" i="0">
                <a:solidFill>
                  <a:srgbClr val="14142B"/>
                </a:solidFill>
                <a:latin typeface="Calibri"/>
              </a:rPr>
              <a:t>refine-in-place answer versions with claim diffs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6D28D9"/>
                </a:solidFill>
                <a:latin typeface="Calibri"/>
              </a:rPr>
              <a:t>• </a:t>
            </a:r>
            <a:r>
              <a:rPr sz="1200" b="0" i="0">
                <a:solidFill>
                  <a:srgbClr val="14142B"/>
                </a:solidFill>
                <a:latin typeface="Calibri"/>
              </a:rPr>
              <a:t>grounded by construction; claim-level verifier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6D28D9"/>
                </a:solidFill>
                <a:latin typeface="Calibri"/>
              </a:rPr>
              <a:t>• </a:t>
            </a:r>
            <a:r>
              <a:rPr sz="1200" b="0" i="0">
                <a:solidFill>
                  <a:srgbClr val="14142B"/>
                </a:solidFill>
                <a:latin typeface="Calibri"/>
              </a:rPr>
              <a:t>entity x aspect gaps said out loud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6D28D9"/>
                </a:solidFill>
                <a:latin typeface="Calibri"/>
              </a:rPr>
              <a:t>• </a:t>
            </a:r>
            <a:r>
              <a:rPr sz="1200" b="0" i="0">
                <a:solidFill>
                  <a:srgbClr val="14142B"/>
                </a:solidFill>
                <a:latin typeface="Calibri"/>
              </a:rPr>
              <a:t>no LLM needed: about $0.0001 per turn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7680960" y="4160520"/>
            <a:ext cx="3703320" cy="2331720"/>
          </a:xfrm>
          <a:prstGeom prst="roundRect">
            <a:avLst>
              <a:gd name="adj" fmla="val 8000"/>
            </a:avLst>
          </a:prstGeom>
          <a:solidFill>
            <a:srgbClr val="F4F1FD"/>
          </a:solidFill>
          <a:ln w="12700">
            <a:solidFill>
              <a:srgbClr val="D9D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Rectangle 143"/>
          <p:cNvSpPr/>
          <p:nvPr/>
        </p:nvSpPr>
        <p:spPr>
          <a:xfrm>
            <a:off x="7680960" y="4270248"/>
            <a:ext cx="64008" cy="2112263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TextBox 144"/>
          <p:cNvSpPr txBox="1"/>
          <p:nvPr/>
        </p:nvSpPr>
        <p:spPr>
          <a:xfrm>
            <a:off x="7863840" y="4251959"/>
            <a:ext cx="3429000" cy="21488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D98E04"/>
                </a:solidFill>
                <a:latin typeface="Calibri"/>
              </a:rPr>
              <a:t>Limitations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D98E04"/>
                </a:solidFill>
                <a:latin typeface="Calibri"/>
              </a:rPr>
              <a:t>• </a:t>
            </a:r>
            <a:r>
              <a:rPr sz="1150" b="0" i="0">
                <a:solidFill>
                  <a:srgbClr val="14142B"/>
                </a:solidFill>
                <a:latin typeface="Calibri"/>
              </a:rPr>
              <a:t>synthetic corpus (official corpus unavailable)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D98E04"/>
                </a:solidFill>
                <a:latin typeface="Calibri"/>
              </a:rPr>
              <a:t>• </a:t>
            </a:r>
            <a:r>
              <a:rPr sz="1150" b="0" i="0">
                <a:solidFill>
                  <a:srgbClr val="14142B"/>
                </a:solidFill>
                <a:latin typeface="Calibri"/>
              </a:rPr>
              <a:t>extractive wording is less fluent than an LLM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D98E04"/>
                </a:solidFill>
                <a:latin typeface="Calibri"/>
              </a:rPr>
              <a:t>• </a:t>
            </a:r>
            <a:r>
              <a:rPr sz="1150" b="0" i="0">
                <a:solidFill>
                  <a:srgbClr val="14142B"/>
                </a:solidFill>
                <a:latin typeface="Calibri"/>
              </a:rPr>
              <a:t>conservative 'not found': some unanswerables still get a related, cited answer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D98E04"/>
                </a:solidFill>
                <a:latin typeface="Calibri"/>
              </a:rPr>
              <a:t>• </a:t>
            </a:r>
            <a:r>
              <a:rPr sz="1150" b="0" i="0">
                <a:solidFill>
                  <a:srgbClr val="14142B"/>
                </a:solidFill>
                <a:latin typeface="Calibri"/>
              </a:rPr>
              <a:t>speech simulated from transcripts (live mic in Chrome)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44" name="Rounded Rectangle 143"/>
          <p:cNvSpPr/>
          <p:nvPr/>
        </p:nvSpPr>
        <p:spPr>
          <a:xfrm>
            <a:off x="841248" y="1463040"/>
            <a:ext cx="5120640" cy="1417320"/>
          </a:xfrm>
          <a:prstGeom prst="roundRect">
            <a:avLst>
              <a:gd name="adj" fmla="val 8000"/>
            </a:avLst>
          </a:prstGeom>
          <a:solidFill>
            <a:srgbClr val="F4F1FD"/>
          </a:solidFill>
          <a:ln w="12700">
            <a:solidFill>
              <a:srgbClr val="D9D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Oval 144"/>
          <p:cNvSpPr/>
          <p:nvPr/>
        </p:nvSpPr>
        <p:spPr>
          <a:xfrm>
            <a:off x="1024128" y="182880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024128" y="182880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847088" y="1600200"/>
            <a:ext cx="3977639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6D28D9"/>
                </a:solidFill>
                <a:latin typeface="Calibri"/>
              </a:rPr>
              <a:t>Plug in the official corpus + real ASR partials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4142B"/>
                </a:solidFill>
                <a:latin typeface="Calibri"/>
              </a:rPr>
              <a:t>streaming Whisper / on-device ASR; tune the stability gate on real partial-hypothesis revisions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190488" y="1463040"/>
            <a:ext cx="5120640" cy="1417320"/>
          </a:xfrm>
          <a:prstGeom prst="roundRect">
            <a:avLst>
              <a:gd name="adj" fmla="val 8000"/>
            </a:avLst>
          </a:prstGeom>
          <a:solidFill>
            <a:srgbClr val="F4F1FD"/>
          </a:solidFill>
          <a:ln w="12700">
            <a:solidFill>
              <a:srgbClr val="D9D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Oval 148"/>
          <p:cNvSpPr/>
          <p:nvPr/>
        </p:nvSpPr>
        <p:spPr>
          <a:xfrm>
            <a:off x="6373368" y="182880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373368" y="182880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196327" y="1600200"/>
            <a:ext cx="3977639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6D28D9"/>
                </a:solidFill>
                <a:latin typeface="Calibri"/>
              </a:rPr>
              <a:t>Learned stability controller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4142B"/>
                </a:solidFill>
                <a:latin typeface="Calibri"/>
              </a:rPr>
              <a:t>train the retrieve / wait policy from ASR confidence, prosody and pauses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841248" y="3063240"/>
            <a:ext cx="5120640" cy="1417320"/>
          </a:xfrm>
          <a:prstGeom prst="roundRect">
            <a:avLst>
              <a:gd name="adj" fmla="val 8000"/>
            </a:avLst>
          </a:prstGeom>
          <a:solidFill>
            <a:srgbClr val="F4F1FD"/>
          </a:solidFill>
          <a:ln w="12700">
            <a:solidFill>
              <a:srgbClr val="D9D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Oval 152"/>
          <p:cNvSpPr/>
          <p:nvPr/>
        </p:nvSpPr>
        <p:spPr>
          <a:xfrm>
            <a:off x="1024128" y="342900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24128" y="342900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847088" y="3200400"/>
            <a:ext cx="3977639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6D28D9"/>
                </a:solidFill>
                <a:latin typeface="Calibri"/>
              </a:rPr>
              <a:t>Small verified on-device LLM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4142B"/>
                </a:solidFill>
                <a:latin typeface="Calibri"/>
              </a:rPr>
              <a:t>fluent phrasing through the existing claim verifier; stream into TTS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190488" y="3063240"/>
            <a:ext cx="5120640" cy="1417320"/>
          </a:xfrm>
          <a:prstGeom prst="roundRect">
            <a:avLst>
              <a:gd name="adj" fmla="val 8000"/>
            </a:avLst>
          </a:prstGeom>
          <a:solidFill>
            <a:srgbClr val="F4F1FD"/>
          </a:solidFill>
          <a:ln w="12700">
            <a:solidFill>
              <a:srgbClr val="D9D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Oval 156"/>
          <p:cNvSpPr/>
          <p:nvPr/>
        </p:nvSpPr>
        <p:spPr>
          <a:xfrm>
            <a:off x="6373368" y="342900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373368" y="342900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196327" y="3200400"/>
            <a:ext cx="3977639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6D28D9"/>
                </a:solidFill>
                <a:latin typeface="Calibri"/>
              </a:rPr>
              <a:t>Multilingual and code-mixed speech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4142B"/>
                </a:solidFill>
                <a:latin typeface="Calibri"/>
              </a:rPr>
              <a:t>Hindi-English, Korean; multilingual bi-encoder and cross-encoder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41248" y="4663440"/>
            <a:ext cx="5120640" cy="1417320"/>
          </a:xfrm>
          <a:prstGeom prst="roundRect">
            <a:avLst>
              <a:gd name="adj" fmla="val 8000"/>
            </a:avLst>
          </a:prstGeom>
          <a:solidFill>
            <a:srgbClr val="F4F1FD"/>
          </a:solidFill>
          <a:ln w="12700">
            <a:solidFill>
              <a:srgbClr val="D9D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Oval 160"/>
          <p:cNvSpPr/>
          <p:nvPr/>
        </p:nvSpPr>
        <p:spPr>
          <a:xfrm>
            <a:off x="1024128" y="502920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024128" y="502920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847088" y="4800600"/>
            <a:ext cx="3977639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6D28D9"/>
                </a:solidFill>
                <a:latin typeface="Calibri"/>
              </a:rPr>
              <a:t>NPU / quantised models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4142B"/>
                </a:solidFill>
                <a:latin typeface="Calibri"/>
              </a:rPr>
              <a:t>int8 cross-encoder and cached sentence scores for sub-100 ms p95 on phones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6190488" y="4663440"/>
            <a:ext cx="5120640" cy="1417320"/>
          </a:xfrm>
          <a:prstGeom prst="roundRect">
            <a:avLst>
              <a:gd name="adj" fmla="val 8000"/>
            </a:avLst>
          </a:prstGeom>
          <a:solidFill>
            <a:srgbClr val="F4F1FD"/>
          </a:solidFill>
          <a:ln w="12700">
            <a:solidFill>
              <a:srgbClr val="D9D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Oval 164"/>
          <p:cNvSpPr/>
          <p:nvPr/>
        </p:nvSpPr>
        <p:spPr>
          <a:xfrm>
            <a:off x="6373368" y="502920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373368" y="502920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196327" y="4800600"/>
            <a:ext cx="3977639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6D28D9"/>
                </a:solidFill>
                <a:latin typeface="Calibri"/>
              </a:rPr>
              <a:t>Barge-in aware answers (with Theme 5)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4142B"/>
                </a:solidFill>
                <a:latin typeface="Calibri"/>
              </a:rPr>
              <a:t>stop, refine and resume the spoken answer when the user interrupts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50" name="Rounded Rectangle 149"/>
          <p:cNvSpPr/>
          <p:nvPr/>
        </p:nvSpPr>
        <p:spPr>
          <a:xfrm>
            <a:off x="841248" y="1463040"/>
            <a:ext cx="3383280" cy="2331720"/>
          </a:xfrm>
          <a:prstGeom prst="roundRect">
            <a:avLst>
              <a:gd name="adj" fmla="val 8000"/>
            </a:avLst>
          </a:prstGeom>
          <a:solidFill>
            <a:srgbClr val="F4F1FD"/>
          </a:solidFill>
          <a:ln w="12700">
            <a:solidFill>
              <a:srgbClr val="D9D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Rectangle 150"/>
          <p:cNvSpPr/>
          <p:nvPr/>
        </p:nvSpPr>
        <p:spPr>
          <a:xfrm>
            <a:off x="841248" y="1572768"/>
            <a:ext cx="64008" cy="2112263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1024128" y="1554480"/>
            <a:ext cx="3108960" cy="21488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F80ED"/>
                </a:solidFill>
                <a:latin typeface="Calibri"/>
              </a:rPr>
              <a:t>Retrieves while you talk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4142B"/>
                </a:solidFill>
                <a:latin typeface="Calibri"/>
              </a:rPr>
              <a:t>median 3.2 s head start; searches fire mid-sentence and are reused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4407408" y="1463040"/>
            <a:ext cx="3383280" cy="2331720"/>
          </a:xfrm>
          <a:prstGeom prst="roundRect">
            <a:avLst>
              <a:gd name="adj" fmla="val 8000"/>
            </a:avLst>
          </a:prstGeom>
          <a:solidFill>
            <a:srgbClr val="F4F1FD"/>
          </a:solidFill>
          <a:ln w="12700">
            <a:solidFill>
              <a:srgbClr val="D9D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Rectangle 153"/>
          <p:cNvSpPr/>
          <p:nvPr/>
        </p:nvSpPr>
        <p:spPr>
          <a:xfrm>
            <a:off x="4407408" y="1572768"/>
            <a:ext cx="64008" cy="2112263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TextBox 154"/>
          <p:cNvSpPr txBox="1"/>
          <p:nvPr/>
        </p:nvSpPr>
        <p:spPr>
          <a:xfrm>
            <a:off x="4590288" y="1554480"/>
            <a:ext cx="3108960" cy="21488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E9E6A"/>
                </a:solidFill>
                <a:latin typeface="Calibri"/>
              </a:rPr>
              <a:t>Zero fabricated citations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4142B"/>
                </a:solidFill>
                <a:latin typeface="Calibri"/>
              </a:rPr>
              <a:t>100% of claims verified against the cited section; IDs cannot be invented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7973568" y="1463040"/>
            <a:ext cx="3383280" cy="2331720"/>
          </a:xfrm>
          <a:prstGeom prst="roundRect">
            <a:avLst>
              <a:gd name="adj" fmla="val 8000"/>
            </a:avLst>
          </a:prstGeom>
          <a:solidFill>
            <a:srgbClr val="F4F1FD"/>
          </a:solidFill>
          <a:ln w="12700">
            <a:solidFill>
              <a:srgbClr val="D9D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Rectangle 156"/>
          <p:cNvSpPr/>
          <p:nvPr/>
        </p:nvSpPr>
        <p:spPr>
          <a:xfrm>
            <a:off x="7973568" y="1572768"/>
            <a:ext cx="64008" cy="2112263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TextBox 157"/>
          <p:cNvSpPr txBox="1"/>
          <p:nvPr/>
        </p:nvSpPr>
        <p:spPr>
          <a:xfrm>
            <a:off x="8156448" y="1554480"/>
            <a:ext cx="3108960" cy="21488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6D28D9"/>
                </a:solidFill>
                <a:latin typeface="Calibri"/>
              </a:rPr>
              <a:t>CPU-only, about $0.0001 per turn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4142B"/>
                </a:solidFill>
                <a:latin typeface="Calibri"/>
              </a:rPr>
              <a:t>two small ONNX models, no GPU, no API keys, works offline in Docker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841248" y="3977639"/>
            <a:ext cx="3383280" cy="2331720"/>
          </a:xfrm>
          <a:prstGeom prst="roundRect">
            <a:avLst>
              <a:gd name="adj" fmla="val 8000"/>
            </a:avLst>
          </a:prstGeom>
          <a:solidFill>
            <a:srgbClr val="F4F1FD"/>
          </a:solidFill>
          <a:ln w="12700">
            <a:solidFill>
              <a:srgbClr val="D9D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Rectangle 159"/>
          <p:cNvSpPr/>
          <p:nvPr/>
        </p:nvSpPr>
        <p:spPr>
          <a:xfrm>
            <a:off x="841248" y="4087368"/>
            <a:ext cx="64008" cy="2112263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TextBox 160"/>
          <p:cNvSpPr txBox="1"/>
          <p:nvPr/>
        </p:nvSpPr>
        <p:spPr>
          <a:xfrm>
            <a:off x="1024128" y="4069079"/>
            <a:ext cx="3108960" cy="21488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F80ED"/>
                </a:solidFill>
                <a:latin typeface="Calibri"/>
              </a:rPr>
              <a:t>Refine, don't restart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4142B"/>
                </a:solidFill>
                <a:latin typeface="Calibri"/>
              </a:rPr>
              <a:t>versioned answers with added / retained / retired claims; only the delta is searched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4407408" y="3977639"/>
            <a:ext cx="3383280" cy="2331720"/>
          </a:xfrm>
          <a:prstGeom prst="roundRect">
            <a:avLst>
              <a:gd name="adj" fmla="val 8000"/>
            </a:avLst>
          </a:prstGeom>
          <a:solidFill>
            <a:srgbClr val="F4F1FD"/>
          </a:solidFill>
          <a:ln w="12700">
            <a:solidFill>
              <a:srgbClr val="D9D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Rectangle 162"/>
          <p:cNvSpPr/>
          <p:nvPr/>
        </p:nvSpPr>
        <p:spPr>
          <a:xfrm>
            <a:off x="4407408" y="4087368"/>
            <a:ext cx="64008" cy="2112263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TextBox 163"/>
          <p:cNvSpPr txBox="1"/>
          <p:nvPr/>
        </p:nvSpPr>
        <p:spPr>
          <a:xfrm>
            <a:off x="4590288" y="4069079"/>
            <a:ext cx="3108960" cy="21488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D98E04"/>
                </a:solidFill>
                <a:latin typeface="Calibri"/>
              </a:rPr>
              <a:t>Says what it doesn't know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4142B"/>
                </a:solidFill>
                <a:latin typeface="Calibri"/>
              </a:rPr>
              <a:t>"catering for Hinjewadi Tech Park could not be verified" - entity x aspect coverage checks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7973568" y="3977639"/>
            <a:ext cx="3383280" cy="2331720"/>
          </a:xfrm>
          <a:prstGeom prst="roundRect">
            <a:avLst>
              <a:gd name="adj" fmla="val 8000"/>
            </a:avLst>
          </a:prstGeom>
          <a:solidFill>
            <a:srgbClr val="F4F1FD"/>
          </a:solidFill>
          <a:ln w="12700">
            <a:solidFill>
              <a:srgbClr val="D9D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Rectangle 165"/>
          <p:cNvSpPr/>
          <p:nvPr/>
        </p:nvSpPr>
        <p:spPr>
          <a:xfrm>
            <a:off x="7973568" y="4087368"/>
            <a:ext cx="64008" cy="2112263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TextBox 166"/>
          <p:cNvSpPr txBox="1"/>
          <p:nvPr/>
        </p:nvSpPr>
        <p:spPr>
          <a:xfrm>
            <a:off x="8156448" y="4069079"/>
            <a:ext cx="3108960" cy="21488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E9E6A"/>
                </a:solidFill>
                <a:latin typeface="Calibri"/>
              </a:rPr>
              <a:t>Measured honestly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4142B"/>
                </a:solidFill>
                <a:latin typeface="Calibri"/>
              </a:rPr>
              <a:t>discrete-event replay; each held-out set written independently after a freeze; earlier held-out runs are reported too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0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Working prototype code — public or shared GitHub repo (Y): https://github.com/abhyuday404/DuplexRAG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0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README with reproducible setup instructions (Y): README.md, Docker Compose, smoke test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0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Demo video, max 5 minutes (Y): submission/DuplexRAG_demo.mp4 in the repo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0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Presentation file (PPT or PDF) (Y): submission/VITV_Pokermons_Submission.pptx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