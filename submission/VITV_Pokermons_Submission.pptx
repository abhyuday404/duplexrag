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7" roundtripDataSignature="AMtx7mgQuomGbdS/wh2yqkB/K4YAZ70Y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7" name="Google Shape;87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9" name="Google Shape;15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Closing slide. Add the Google Form URL and a contact email before sharing. Edition 2 organising team for reference: Language AI - Sourabh Tiwari, Gaurav, Sanjeeth Pothireddy, Gorang Maniar; PRISM - Binny Lakra, Prakhar Chandrakar, Vishu Kumar; Kick-off and mentors - Giridhar Jakki, Deepraj Prabhakar Patkar (Language AI), Srimanu Prasad Nagaraju, Ashish Kumar (Tech Strategy).</a:t>
            </a:r>
            <a:endParaRPr/>
          </a:p>
        </p:txBody>
      </p:sp>
      <p:sp>
        <p:nvSpPr>
          <p:cNvPr id="160" name="Google Shape;16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" name="Google Shape;19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25" name="Google Shape;25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7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7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1" name="Google Shape;31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8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18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9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9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4" name="Google Shape;44;p19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" name="Google Shape;45;p19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6" name="Google Shape;46;p19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" name="Google Shape;47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22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2" name="Google Shape;62;p22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3" name="Google Shape;63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23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23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0" name="Google Shape;70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24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6" name="Google Shape;76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25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1" name="Google Shape;81;p25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2" name="Google Shape;82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"/>
          <p:cNvSpPr/>
          <p:nvPr/>
        </p:nvSpPr>
        <p:spPr>
          <a:xfrm>
            <a:off x="777240" y="676656"/>
            <a:ext cx="2423160" cy="347472"/>
          </a:xfrm>
          <a:prstGeom prst="roundRect">
            <a:avLst>
              <a:gd fmla="val 50000" name="adj"/>
            </a:avLst>
          </a:prstGeom>
          <a:solidFill>
            <a:srgbClr val="FFFFFF"/>
          </a:solidFill>
          <a:ln cap="flat" cmpd="sng" w="12700">
            <a:solidFill>
              <a:srgbClr val="D9D3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"/>
          <p:cNvSpPr txBox="1"/>
          <p:nvPr/>
        </p:nvSpPr>
        <p:spPr>
          <a:xfrm>
            <a:off x="777240" y="676656"/>
            <a:ext cx="24231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SAMSUNG PRISM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777240" y="1207008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Generative AI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777240" y="1901952"/>
            <a:ext cx="6126480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D28D9"/>
              </a:buClr>
              <a:buSzPts val="5000"/>
              <a:buFont typeface="Arial"/>
              <a:buNone/>
            </a:pPr>
            <a:r>
              <a:rPr b="1" i="0" lang="en-US" sz="5000" u="none" cap="none" strike="noStrike">
                <a:solidFill>
                  <a:srgbClr val="6D28D9"/>
                </a:solidFill>
                <a:latin typeface="Arial"/>
                <a:ea typeface="Arial"/>
                <a:cs typeface="Arial"/>
                <a:sym typeface="Arial"/>
              </a:rPr>
              <a:t>Hackathon</a:t>
            </a:r>
            <a:endParaRPr b="0" i="0" sz="5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777240" y="2724912"/>
            <a:ext cx="61264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3rd Edition</a:t>
            </a:r>
            <a:r>
              <a:rPr b="0" i="0" lang="en-US" sz="20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   2026 – 27</a:t>
            </a:r>
            <a:endParaRPr b="0" i="0" sz="2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1"/>
          <p:cNvSpPr txBox="1"/>
          <p:nvPr/>
        </p:nvSpPr>
        <p:spPr>
          <a:xfrm>
            <a:off x="777240" y="3310128"/>
            <a:ext cx="6263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77800" lvl="0" marL="17780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Theme ID - 4 (Streaming Live RAG)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Team Name - Pokermons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College Name - VITV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1- Priyank Garg, priyank.garg2024@vitstudent.ac.in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2- Harshit Raj, harshit.raj2025@vitstudent.ac.in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3- Abhyuday Rai, abhyuday.rai2024@vitstudent.ac.in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Member Name &amp; Email 4- </a:t>
            </a:r>
            <a:endParaRPr/>
          </a:p>
          <a:p>
            <a:pPr indent="-177800" lvl="0" marL="177800" marR="0" rtl="0" algn="l">
              <a:spcBef>
                <a:spcPts val="500"/>
              </a:spcBef>
              <a:spcAft>
                <a:spcPts val="0"/>
              </a:spcAft>
              <a:buClr>
                <a:srgbClr val="63637E"/>
              </a:buClr>
              <a:buSzPts val="1600"/>
              <a:buFont typeface="Calibri"/>
              <a:buChar char="•"/>
            </a:pPr>
            <a:r>
              <a:rPr b="0" i="0" lang="en-US" sz="13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Submission Github link - https://github.com/abhyuday404/DuplexRAG</a:t>
            </a:r>
            <a:endParaRPr/>
          </a:p>
          <a:p>
            <a:pPr indent="-76200" lvl="0" marL="177800" marR="0" rtl="0" algn="l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Calibri"/>
              <a:buNone/>
            </a:pPr>
            <a:r>
              <a:rPr sz="1300"/>
              <a:t/>
            </a:r>
            <a:endParaRPr b="0" i="0" sz="1600" u="none" cap="none" strike="noStrike">
              <a:solidFill>
                <a:srgbClr val="63637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hero_network.png" id="96" name="Google Shape;9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59168" y="1051560"/>
            <a:ext cx="4572000" cy="4572000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TextBox 96"/>
          <p:cNvSpPr txBox="1"/>
          <p:nvPr/>
        </p:nvSpPr>
        <p:spPr>
          <a:xfrm>
            <a:off x="777240" y="6309360"/>
            <a:ext cx="6035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DuplexRAG</a:t>
            </a:r>
            <a:r>
              <a:rPr sz="1300" b="0" i="0">
                <a:solidFill>
                  <a:srgbClr val="63637E"/>
                </a:solidFill>
                <a:latin typeface="Calibri"/>
              </a:rPr>
              <a:t> - retrieve while the user is still speaking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Theme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841248" y="141732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6D28D9"/>
                </a:solidFill>
                <a:latin typeface="Calibri"/>
              </a:rPr>
              <a:t>Theme 04 · Streaming Live RAG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41248" y="1920240"/>
            <a:ext cx="566928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4142B"/>
                </a:solidFill>
                <a:latin typeface="Calibri"/>
              </a:rPr>
              <a:t>In a full-duplex voice conversation people speak one natural request, not a tidy query.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Hidden intents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one utterance often carries several questions.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Latency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waiting for the end of speech before searching leaves dead air.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Late details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"actually it's fifty people" must refine the answer, not restart it.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Not every turn needs search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"repeat that in two bullets" is formatting.</a:t>
            </a:r>
          </a:p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500" b="1" i="0">
                <a:solidFill>
                  <a:srgbClr val="14142B"/>
                </a:solidFill>
                <a:latin typeface="Calibri"/>
              </a:rPr>
              <a:t>Trust - </a:t>
            </a:r>
            <a:r>
              <a:rPr sz="1500" b="0" i="0">
                <a:solidFill>
                  <a:srgbClr val="14142B"/>
                </a:solidFill>
                <a:latin typeface="Calibri"/>
              </a:rPr>
              <a:t>every claim must be grounded in the provided corpus, and gaps must be said out loud.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Goal: a cheap, CPU-only engine that retrieves during speech, answers every hidden intent with citations, and keeps the answer alive across the conversation.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812280" y="1463040"/>
            <a:ext cx="4572000" cy="4846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6995160" y="1554480"/>
            <a:ext cx="4206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63637E"/>
                </a:solidFill>
                <a:latin typeface="Calibri"/>
              </a:rPr>
              <a:t>One utterance, three hidden questions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6995160" y="1965960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7" name="TextBox 106"/>
          <p:cNvSpPr txBox="1"/>
          <p:nvPr/>
        </p:nvSpPr>
        <p:spPr>
          <a:xfrm>
            <a:off x="7059168" y="1984248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0.0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"I need to plan a customer workshop in…"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6995160" y="2532888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7059168" y="2551176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0.8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"…Pune for 30 people, and I need…"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995160" y="3099815"/>
            <a:ext cx="420624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1" name="TextBox 110"/>
          <p:cNvSpPr txBox="1"/>
          <p:nvPr/>
        </p:nvSpPr>
        <p:spPr>
          <a:xfrm>
            <a:off x="7059168" y="3118104"/>
            <a:ext cx="411480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1.6 s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"…the cancellation policy and the catering options."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699516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3" name="TextBox 112"/>
          <p:cNvSpPr txBox="1"/>
          <p:nvPr/>
        </p:nvSpPr>
        <p:spPr>
          <a:xfrm>
            <a:off x="699516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venue capacity for 30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841248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841248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cancellation terms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9829800" y="3749039"/>
            <a:ext cx="1325880" cy="457200"/>
          </a:xfrm>
          <a:prstGeom prst="roundRect">
            <a:avLst>
              <a:gd name="adj" fmla="val 8000"/>
            </a:avLst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7" name="TextBox 116"/>
          <p:cNvSpPr txBox="1"/>
          <p:nvPr/>
        </p:nvSpPr>
        <p:spPr>
          <a:xfrm>
            <a:off x="9829800" y="3749039"/>
            <a:ext cx="132588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catering options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995160" y="4389120"/>
            <a:ext cx="42062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"Actually it's going to be fifty."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refine the capacity claim, keep the rest (v1 → v2)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then: </a:t>
            </a:r>
            <a:r>
              <a:rPr sz="1300" b="0" i="1">
                <a:solidFill>
                  <a:srgbClr val="14142B"/>
                </a:solidFill>
                <a:latin typeface="Calibri"/>
              </a:rPr>
              <a:t>"Can you repeat that in two bullets?"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→ no retrieval, same citations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Existing Solutions &amp; Gaps</a:t>
            </a:r>
            <a:endParaRPr/>
          </a:p>
        </p:txBody>
      </p:sp>
      <p:graphicFrame>
        <p:nvGraphicFramePr>
          <p:cNvPr id="108" name="Table 107"/>
          <p:cNvGraphicFramePr>
            <a:graphicFrameLocks noGrp="1"/>
          </p:cNvGraphicFramePr>
          <p:nvPr/>
        </p:nvGraphicFramePr>
        <p:xfrm>
          <a:off x="841248" y="1554480"/>
          <a:ext cx="105156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566160"/>
                <a:gridCol w="393192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Approach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</a:rPr>
                        <a:t>Gap for full-duplex voice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Turn-based 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waits for end of speech, one query for the whole utterance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dead air while searching; compound requests get one blurred query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LLM query rewriting / multi-query (RAG-Fusion, HyDE)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an LLM rewrites or splits the query after the user stops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adds an LLM call to every turn: more latency and cost, and it can invent queries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Agentic RAG (plan → search → read loops)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multi-step tool use by an LLM 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heavy orchestration and unpredictable latency - the brief asks for simple and cheap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Chat-history RAG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concatenates history into the next query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late details restart the search; context drifts; old citations are lost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Intent-based voice assistants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classify intent → fixed skill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4142B"/>
                          </a:solidFill>
                          <a:latin typeface="Calibri"/>
                        </a:rPr>
                        <a:t>no grounding in documents, no citations, no answer for long-tail policy questions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9" name="Rounded Rectangle 108"/>
          <p:cNvSpPr/>
          <p:nvPr/>
        </p:nvSpPr>
        <p:spPr>
          <a:xfrm>
            <a:off x="841248" y="5715000"/>
            <a:ext cx="10515600" cy="658368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1005840" y="5715000"/>
            <a:ext cx="10241280" cy="65836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gap: nothing retrieves during speech, refines the answer in place and proves every claim - on a CPU budget, without an LLM in the loop.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 txBox="1"/>
          <p:nvPr>
            <p:ph type="title"/>
          </p:nvPr>
        </p:nvSpPr>
        <p:spPr>
          <a:xfrm>
            <a:off x="909917" y="26651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Our Solutions &amp; Architecture Diagram</a:t>
            </a:r>
            <a:endParaRPr/>
          </a:p>
        </p:txBody>
      </p:sp>
      <p:pic>
        <p:nvPicPr>
          <p:cNvPr id="114" name="Picture 113" descr="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325880"/>
            <a:ext cx="10515600" cy="4918755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841248" y="6309360"/>
            <a:ext cx="10515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3637E"/>
                </a:solidFill>
                <a:latin typeface="Calibri"/>
              </a:rPr>
              <a:t>Event-driven: on_chunk() per ASR partial, end_turn() at end of speech; retrieval jobs run in the background while the user keeps talking.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Demo &amp; Product Walkthrough</a:t>
            </a:r>
            <a:endParaRPr/>
          </a:p>
        </p:txBody>
      </p:sp>
      <p:pic>
        <p:nvPicPr>
          <p:cNvPr id="120" name="Picture 119" descr="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1463040"/>
            <a:ext cx="6949440" cy="3909060"/>
          </a:xfrm>
          <a:prstGeom prst="rect">
            <a:avLst/>
          </a:prstGeom>
        </p:spPr>
      </p:pic>
      <p:sp>
        <p:nvSpPr>
          <p:cNvPr id="121" name="TextBox 120"/>
          <p:cNvSpPr txBox="1"/>
          <p:nvPr/>
        </p:nvSpPr>
        <p:spPr>
          <a:xfrm>
            <a:off x="8001000" y="1463040"/>
            <a:ext cx="3429000" cy="4937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1. Stream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replay a scenario, type, or speak (Chrome mic) - chunks arrive every ~1 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2. Watch the controller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WAIT / RETRIEVE / SUPPRESS per chunk; provisional and multi-intent searches fire mid-sentence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3. Grounded answer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one line per hidden intent, every claim cited; click a citation to see the source section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4. Late detail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"actually fifty people" → v2 with a diff: added / retained / retired claims, delta search only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6D28D9"/>
                </a:solidFill>
                <a:latin typeface="Calibri"/>
              </a:rPr>
              <a:t>5. Format request  </a:t>
            </a:r>
            <a:r>
              <a:rPr sz="1300" b="0" i="0">
                <a:solidFill>
                  <a:srgbClr val="14142B"/>
                </a:solidFill>
                <a:latin typeface="Calibri"/>
              </a:rPr>
              <a:t>"two bullets" → no retrieval, same citations; the trace and cost are downloadable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4142B"/>
                </a:solidFill>
                <a:latin typeface="Calibri"/>
              </a:rPr>
              <a:t>Demo video: </a:t>
            </a:r>
            <a:r>
              <a:rPr sz="1300" b="0" i="0">
                <a:solidFill>
                  <a:srgbClr val="2F80ED"/>
                </a:solidFill>
                <a:latin typeface="Calibri"/>
              </a:rPr>
              <a:t>submission/DuplexRAG_demo.mp4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Tools and tech stack used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26" name="Rounded Rectangle 125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7" name="Rectangle 126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8" name="TextBox 127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Models (CPU, ONNX)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BAAI bge-small-en-v1.5 - 33M bi-encoder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ms-marco-MiniLM-L-6-v2 - 22M cross-encoder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fastembed + ONNX Runtime, 4 threads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no GPU, no API keys, runs offline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0" name="Rectangle 129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1" name="TextBox 130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Retrieval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Okapi BM25 (NumPy, in-house)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dense cosine search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reciprocal-rank fusion (k=60)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cross-encoder rerank + sentence scoring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9E6A"/>
                </a:solidFill>
                <a:latin typeface="Calibri"/>
              </a:rPr>
              <a:t>Language layer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rule-based spoken-language decomposer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turn gate: rules + NumPy softmax classifier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self-repair, spoken numbers, anaphora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E9E6A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optional OpenAI-compatible LLM (verified)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Serving &amp; UI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FastAPI + WebSocket (uvicorn)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vanilla JS live UI, Web Speech API mic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CLI: index / serve / replay / ask / bench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JSONL telemetry + JSON Schema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Engineering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Python 3.12, uv lockfile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Docker Compose (one command)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pytest + smoke test (G1)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git, periodic commits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2F80ED"/>
                </a:solidFill>
                <a:latin typeface="Calibri"/>
              </a:rPr>
              <a:t>Evaluation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discrete-event streaming replay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4 independently written benchmark splits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baseline + 7 ablations, gates G1-G6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2F80ED"/>
                </a:solidFill>
                <a:latin typeface="Calibri"/>
              </a:rPr>
              <a:t>• </a:t>
            </a:r>
            <a:r>
              <a:rPr sz="1250" b="0" i="0">
                <a:solidFill>
                  <a:srgbClr val="14142B"/>
                </a:solidFill>
                <a:latin typeface="Calibri"/>
              </a:rPr>
              <a:t>matplotlib figures, Playwright demo capture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Impact &amp; Use case</a:t>
            </a:r>
            <a:endParaRPr b="1">
              <a:solidFill>
                <a:srgbClr val="704EA6"/>
              </a:solidFill>
            </a:endParaRPr>
          </a:p>
        </p:txBody>
      </p:sp>
      <p:sp>
        <p:nvSpPr>
          <p:cNvPr id="132" name="Rounded Rectangle 131"/>
          <p:cNvSpPr/>
          <p:nvPr/>
        </p:nvSpPr>
        <p:spPr>
          <a:xfrm>
            <a:off x="841248" y="1463040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3" name="Rectangle 132"/>
          <p:cNvSpPr/>
          <p:nvPr/>
        </p:nvSpPr>
        <p:spPr>
          <a:xfrm>
            <a:off x="841248" y="1572768"/>
            <a:ext cx="64008" cy="87782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1024128" y="1554480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D28D9"/>
                </a:solidFill>
                <a:latin typeface="Calibri"/>
              </a:rPr>
              <a:t>Voice assistants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answer 'how do I…' questions from manuals, policies and settings docs while the user is still talking - with a source for every claim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41248" y="2679192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6" name="Rectangle 135"/>
          <p:cNvSpPr/>
          <p:nvPr/>
        </p:nvSpPr>
        <p:spPr>
          <a:xfrm>
            <a:off x="841248" y="2788920"/>
            <a:ext cx="64008" cy="877824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7" name="TextBox 136"/>
          <p:cNvSpPr txBox="1"/>
          <p:nvPr/>
        </p:nvSpPr>
        <p:spPr>
          <a:xfrm>
            <a:off x="1024128" y="2770632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2F80ED"/>
                </a:solidFill>
                <a:latin typeface="Calibri"/>
              </a:rPr>
              <a:t>Contact-centre agent assist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surface the right policy clauses during a live call; refine as the caller adds details; no dead air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41248" y="3895344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9" name="Rectangle 138"/>
          <p:cNvSpPr/>
          <p:nvPr/>
        </p:nvSpPr>
        <p:spPr>
          <a:xfrm>
            <a:off x="841248" y="4005072"/>
            <a:ext cx="64008" cy="877824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0" name="TextBox 139"/>
          <p:cNvSpPr txBox="1"/>
          <p:nvPr/>
        </p:nvSpPr>
        <p:spPr>
          <a:xfrm>
            <a:off x="1024128" y="3986783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E9E6A"/>
                </a:solidFill>
                <a:latin typeface="Calibri"/>
              </a:rPr>
              <a:t>Enterprise helpdesk (HR / IT / travel)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compound, messy questions answered in one turn with explicit 'not in the policy' flags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841248" y="5111496"/>
            <a:ext cx="6035040" cy="109728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Rectangle 141"/>
          <p:cNvSpPr/>
          <p:nvPr/>
        </p:nvSpPr>
        <p:spPr>
          <a:xfrm>
            <a:off x="841248" y="5221224"/>
            <a:ext cx="64008" cy="877824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3" name="TextBox 142"/>
          <p:cNvSpPr txBox="1"/>
          <p:nvPr/>
        </p:nvSpPr>
        <p:spPr>
          <a:xfrm>
            <a:off x="1024128" y="5202936"/>
            <a:ext cx="57607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D98E04"/>
                </a:solidFill>
                <a:latin typeface="Calibri"/>
              </a:rPr>
              <a:t>Hands-free field work</a:t>
            </a:r>
          </a:p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technicians and drivers ask by voice; CPU-only, offline-capable, cheap to run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717804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269479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3.2 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269479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head start: retrieval begins before the user stops talking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9372600" y="146304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8" name="TextBox 147"/>
          <p:cNvSpPr txBox="1"/>
          <p:nvPr/>
        </p:nvSpPr>
        <p:spPr>
          <a:xfrm>
            <a:off x="9464040" y="153619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7 ms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464040" y="219227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median time to first token after speech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717804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TextBox 150"/>
          <p:cNvSpPr txBox="1"/>
          <p:nvPr/>
        </p:nvSpPr>
        <p:spPr>
          <a:xfrm>
            <a:off x="7269479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3637E"/>
                </a:solidFill>
                <a:latin typeface="Calibri"/>
              </a:rPr>
              <a:t>614 ms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69479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same stack without speculation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9372600" y="297180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TextBox 153"/>
          <p:cNvSpPr txBox="1"/>
          <p:nvPr/>
        </p:nvSpPr>
        <p:spPr>
          <a:xfrm>
            <a:off x="9464040" y="304495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$0.00007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464040" y="370103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compute cost per turn (CPU only)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17804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TextBox 156"/>
          <p:cNvSpPr txBox="1"/>
          <p:nvPr/>
        </p:nvSpPr>
        <p:spPr>
          <a:xfrm>
            <a:off x="7269479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100%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269479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claims supported by their citation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9372600" y="4480560"/>
            <a:ext cx="20116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9464040" y="4553712"/>
            <a:ext cx="1828800" cy="72923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 i="0">
                <a:solidFill>
                  <a:srgbClr val="6D28D9"/>
                </a:solidFill>
                <a:latin typeface="Calibri"/>
              </a:rP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464040" y="5209794"/>
            <a:ext cx="1828800" cy="596646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63637E"/>
                </a:solidFill>
                <a:latin typeface="Calibri"/>
              </a:rPr>
              <a:t>fabricated citation IDs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178040" y="5897880"/>
            <a:ext cx="4206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63637E"/>
                </a:solidFill>
                <a:latin typeface="Calibri"/>
              </a:rPr>
              <a:t>held-out test split, laptop CPU (Ryzen 5 4600H)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3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Innovation highlights, results and limitations</a:t>
            </a:r>
            <a:endParaRPr b="1" sz="4400">
              <a:solidFill>
                <a:srgbClr val="704EA6"/>
              </a:solidFill>
            </a:endParaRPr>
          </a:p>
        </p:txBody>
      </p:sp>
      <p:graphicFrame>
        <p:nvGraphicFramePr>
          <p:cNvPr id="138" name="Table 137"/>
          <p:cNvGraphicFramePr>
            <a:graphicFrameLocks noGrp="1"/>
          </p:cNvGraphicFramePr>
          <p:nvPr/>
        </p:nvGraphicFramePr>
        <p:xfrm>
          <a:off x="841248" y="1417320"/>
          <a:ext cx="6583680" cy="4325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1097280"/>
                <a:gridCol w="1051560"/>
                <a:gridCol w="10058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Held-out test (30 sessions, 74 turns)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DuplexRAG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6D28D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retrieval starts before end of speech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G2 false triggers on no-retrieval turns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low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G3 compound turns: &gt;= 2 intents isolated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83%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70%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claims supported by citation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&gt;= 85%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G4 fabricated citation IDs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G5 refinements: versioned, delta-only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pass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G6 telemetry trace coverage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Retrieval hit@3 (gold section)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69%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Key facts present in answer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51%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TTFT p50 after end of speech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7 ms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>11 ms</a:t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414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4F1FD"/>
                    </a:solidFill>
                  </a:tcPr>
                </a:tc>
              </a:tr>
            </a:tbl>
          </a:graphicData>
        </a:graphic>
      </p:graphicFrame>
      <p:sp>
        <p:nvSpPr>
          <p:cNvPr id="139" name="TextBox 138"/>
          <p:cNvSpPr txBox="1"/>
          <p:nvPr/>
        </p:nvSpPr>
        <p:spPr>
          <a:xfrm>
            <a:off x="841248" y="5806440"/>
            <a:ext cx="6583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 i="0">
                <a:solidFill>
                  <a:srgbClr val="63637E"/>
                </a:solidFill>
                <a:latin typeface="Calibri"/>
              </a:rPr>
              <a:t>Baseline = turn-based RAG: waits for end of speech, one dense query, no rerank, no session memory. G1: one-command Docker build + automated replay; smoke test passes from a clean checkout.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7680960" y="1417320"/>
            <a:ext cx="3703320" cy="260604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1" name="Rectangle 140"/>
          <p:cNvSpPr/>
          <p:nvPr/>
        </p:nvSpPr>
        <p:spPr>
          <a:xfrm>
            <a:off x="7680960" y="1527048"/>
            <a:ext cx="64008" cy="2386584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7863840" y="1508760"/>
            <a:ext cx="3429000" cy="2423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Innovation highlights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speculative per-clause retrieval with entity-aware reuse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refine-in-place answer versions with claim diffs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grounded by construction; claim-level verifier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entity x aspect gaps said out loud</a:t>
            </a:r>
          </a:p>
          <a:p>
            <a:pPr algn="l">
              <a:spcAft>
                <a:spcPts val="3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• </a:t>
            </a:r>
            <a:r>
              <a:rPr sz="1200" b="0" i="0">
                <a:solidFill>
                  <a:srgbClr val="14142B"/>
                </a:solidFill>
                <a:latin typeface="Calibri"/>
              </a:rPr>
              <a:t>no LLM needed: about $0.0001 per turn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7680960" y="4160520"/>
            <a:ext cx="370332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4" name="Rectangle 143"/>
          <p:cNvSpPr/>
          <p:nvPr/>
        </p:nvSpPr>
        <p:spPr>
          <a:xfrm>
            <a:off x="7680960" y="427024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TextBox 144"/>
          <p:cNvSpPr txBox="1"/>
          <p:nvPr/>
        </p:nvSpPr>
        <p:spPr>
          <a:xfrm>
            <a:off x="7863840" y="4251959"/>
            <a:ext cx="342900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D98E04"/>
                </a:solidFill>
                <a:latin typeface="Calibri"/>
              </a:rPr>
              <a:t>Limitations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synthetic corpus (official corpus unavailable)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extractive wording is less fluent than an LLM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conservative 'not found': some unanswerables still get a related, cited answer</a:t>
            </a:r>
          </a:p>
          <a:p>
            <a:pPr algn="l">
              <a:spcAft>
                <a:spcPts val="300"/>
              </a:spcAft>
            </a:pPr>
            <a:r>
              <a:rPr sz="1150" b="1" i="0">
                <a:solidFill>
                  <a:srgbClr val="D98E04"/>
                </a:solidFill>
                <a:latin typeface="Calibri"/>
              </a:rPr>
              <a:t>• </a:t>
            </a:r>
            <a:r>
              <a:rPr sz="1150" b="0" i="0">
                <a:solidFill>
                  <a:srgbClr val="14142B"/>
                </a:solidFill>
                <a:latin typeface="Calibri"/>
              </a:rPr>
              <a:t>speech simulated from transcripts (live mic in Chrome)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What’s next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44" name="Rounded Rectangle 143"/>
          <p:cNvSpPr/>
          <p:nvPr/>
        </p:nvSpPr>
        <p:spPr>
          <a:xfrm>
            <a:off x="84124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5" name="Oval 144"/>
          <p:cNvSpPr/>
          <p:nvPr/>
        </p:nvSpPr>
        <p:spPr>
          <a:xfrm>
            <a:off x="102412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2412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847088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Plug in the official corpus + real ASR partials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streaming Whisper / on-device ASR; tune the stability gate on real partial-hypothesis revisions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6190488" y="14630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9" name="Oval 148"/>
          <p:cNvSpPr/>
          <p:nvPr/>
        </p:nvSpPr>
        <p:spPr>
          <a:xfrm>
            <a:off x="6373368" y="18288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73368" y="18288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196327" y="16002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Learned stability controller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train the retrieve / wait policy from ASR confidence, prosody and pauses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4124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" name="Oval 152"/>
          <p:cNvSpPr/>
          <p:nvPr/>
        </p:nvSpPr>
        <p:spPr>
          <a:xfrm>
            <a:off x="102412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2412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847088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Small verified on-device LLM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fluent phrasing through the existing claim verifier; stream into TTS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6190488" y="30632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Oval 156"/>
          <p:cNvSpPr/>
          <p:nvPr/>
        </p:nvSpPr>
        <p:spPr>
          <a:xfrm>
            <a:off x="6373368" y="34290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73368" y="34290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196327" y="32004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Multilingual and code-mixed speech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Hindi-English, Korean; multilingual bi-encoder and cross-encoder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84124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Oval 160"/>
          <p:cNvSpPr/>
          <p:nvPr/>
        </p:nvSpPr>
        <p:spPr>
          <a:xfrm>
            <a:off x="102412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02412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47088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NPU / quantised models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int8 cross-encoder and cached sentence scores for sub-100 ms p95 on phones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190488" y="4663440"/>
            <a:ext cx="5120640" cy="14173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5" name="Oval 164"/>
          <p:cNvSpPr/>
          <p:nvPr/>
        </p:nvSpPr>
        <p:spPr>
          <a:xfrm>
            <a:off x="6373368" y="5029200"/>
            <a:ext cx="640080" cy="640080"/>
          </a:xfrm>
          <a:prstGeom prst="ellipse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73368" y="5029200"/>
            <a:ext cx="6400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96327" y="4800600"/>
            <a:ext cx="3977639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6D28D9"/>
                </a:solidFill>
                <a:latin typeface="Calibri"/>
              </a:rPr>
              <a:t>Barge-in aware answers (with Theme 5)</a:t>
            </a:r>
          </a:p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14142B"/>
                </a:solidFill>
                <a:latin typeface="Calibri"/>
              </a:rPr>
              <a:t>stop, refine and resume the spoken answer when the user interrupts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 sz="4400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Brownie points slide( differentiation)</a:t>
            </a:r>
            <a:endParaRPr b="1" sz="4400">
              <a:solidFill>
                <a:srgbClr val="704EA6"/>
              </a:solidFill>
            </a:endParaRPr>
          </a:p>
        </p:txBody>
      </p:sp>
      <p:sp>
        <p:nvSpPr>
          <p:cNvPr id="150" name="Rounded Rectangle 149"/>
          <p:cNvSpPr/>
          <p:nvPr/>
        </p:nvSpPr>
        <p:spPr>
          <a:xfrm>
            <a:off x="84124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1" name="Rectangle 150"/>
          <p:cNvSpPr/>
          <p:nvPr/>
        </p:nvSpPr>
        <p:spPr>
          <a:xfrm>
            <a:off x="841248" y="15727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2" name="TextBox 151"/>
          <p:cNvSpPr txBox="1"/>
          <p:nvPr/>
        </p:nvSpPr>
        <p:spPr>
          <a:xfrm>
            <a:off x="102412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Retrieves while you talk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median 3.2 s head start; searches fire mid-sentence and are reused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440740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" name="Rectangle 153"/>
          <p:cNvSpPr/>
          <p:nvPr/>
        </p:nvSpPr>
        <p:spPr>
          <a:xfrm>
            <a:off x="4407408" y="15727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5" name="TextBox 154"/>
          <p:cNvSpPr txBox="1"/>
          <p:nvPr/>
        </p:nvSpPr>
        <p:spPr>
          <a:xfrm>
            <a:off x="459028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Zero fabricated citations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100% of claims verified against the cited section; IDs cannot be invented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7973568" y="1463040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7" name="Rectangle 156"/>
          <p:cNvSpPr/>
          <p:nvPr/>
        </p:nvSpPr>
        <p:spPr>
          <a:xfrm>
            <a:off x="7973568" y="1572768"/>
            <a:ext cx="64008" cy="2112263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8" name="TextBox 157"/>
          <p:cNvSpPr txBox="1"/>
          <p:nvPr/>
        </p:nvSpPr>
        <p:spPr>
          <a:xfrm>
            <a:off x="8156448" y="1554480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6D28D9"/>
                </a:solidFill>
                <a:latin typeface="Calibri"/>
              </a:rPr>
              <a:t>CPU-only, about $0.0001 per turn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two small ONNX models, no GPU, no API keys, works offline in Docker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84124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0" name="Rectangle 159"/>
          <p:cNvSpPr/>
          <p:nvPr/>
        </p:nvSpPr>
        <p:spPr>
          <a:xfrm>
            <a:off x="841248" y="4087368"/>
            <a:ext cx="64008" cy="2112263"/>
          </a:xfrm>
          <a:prstGeom prst="rect">
            <a:avLst/>
          </a:prstGeom>
          <a:solidFill>
            <a:srgbClr val="2F8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102412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F80ED"/>
                </a:solidFill>
                <a:latin typeface="Calibri"/>
              </a:rPr>
              <a:t>Refine, don't restart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versioned answers with added / retained / retired claims; only the delta is searched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0740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3" name="Rectangle 162"/>
          <p:cNvSpPr/>
          <p:nvPr/>
        </p:nvSpPr>
        <p:spPr>
          <a:xfrm>
            <a:off x="4407408" y="4087368"/>
            <a:ext cx="64008" cy="2112263"/>
          </a:xfrm>
          <a:prstGeom prst="rect">
            <a:avLst/>
          </a:prstGeom>
          <a:solidFill>
            <a:srgbClr val="D98E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4" name="TextBox 163"/>
          <p:cNvSpPr txBox="1"/>
          <p:nvPr/>
        </p:nvSpPr>
        <p:spPr>
          <a:xfrm>
            <a:off x="459028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98E04"/>
                </a:solidFill>
                <a:latin typeface="Calibri"/>
              </a:rPr>
              <a:t>Says what it doesn't know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"catering for Hinjewadi Tech Park could not be verified" - entity x aspect coverage checks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7973568" y="3977639"/>
            <a:ext cx="3383280" cy="2331720"/>
          </a:xfrm>
          <a:prstGeom prst="roundRect">
            <a:avLst>
              <a:gd name="adj" fmla="val 8000"/>
            </a:avLst>
          </a:prstGeom>
          <a:solidFill>
            <a:srgbClr val="F4F1FD"/>
          </a:solidFill>
          <a:ln w="12700">
            <a:solidFill>
              <a:srgbClr val="D9D4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6" name="Rectangle 165"/>
          <p:cNvSpPr/>
          <p:nvPr/>
        </p:nvSpPr>
        <p:spPr>
          <a:xfrm>
            <a:off x="7973568" y="4087368"/>
            <a:ext cx="64008" cy="2112263"/>
          </a:xfrm>
          <a:prstGeom prst="rect">
            <a:avLst/>
          </a:prstGeom>
          <a:solidFill>
            <a:srgbClr val="1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7" name="TextBox 166"/>
          <p:cNvSpPr txBox="1"/>
          <p:nvPr/>
        </p:nvSpPr>
        <p:spPr>
          <a:xfrm>
            <a:off x="8156448" y="4069079"/>
            <a:ext cx="3108960" cy="2148839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E9E6A"/>
                </a:solidFill>
                <a:latin typeface="Calibri"/>
              </a:rPr>
              <a:t>Measured honestly</a:t>
            </a:r>
          </a:p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14142B"/>
                </a:solidFill>
                <a:latin typeface="Calibri"/>
              </a:rPr>
              <a:t>discrete-event replay; each held-out set written independently after a freeze; earlier held-out runs are reported too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04EA6"/>
              </a:buClr>
              <a:buSzPts val="4400"/>
              <a:buFont typeface="Calibri"/>
              <a:buNone/>
            </a:pPr>
            <a:r>
              <a:rPr b="1" lang="en-US">
                <a:solidFill>
                  <a:srgbClr val="704EA6"/>
                </a:solidFill>
                <a:latin typeface="Calibri"/>
                <a:ea typeface="Calibri"/>
                <a:cs typeface="Calibri"/>
                <a:sym typeface="Calibri"/>
              </a:rPr>
              <a:t>Checklist- Updated on Public GitHub</a:t>
            </a:r>
            <a:endParaRPr/>
          </a:p>
        </p:txBody>
      </p:sp>
      <p:sp>
        <p:nvSpPr>
          <p:cNvPr id="156" name="Google Shape;156;p1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177800" lvl="0" marL="1778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Working prototype code — public or shared GitHub repo (Y): https://github.com/abhyuday404/DuplexRAG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README with reproducible setup instructions (Y): README.md, Docker Compose, smoke test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Demo video, max 5 minutes (Y): submission/DuplexRAG_demo.mp4 in the repo</a:t>
            </a:r>
            <a:endParaRPr sz="2800"/>
          </a:p>
          <a:p>
            <a:pPr indent="-177800" lvl="0" marL="17780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rgbClr val="63637E"/>
              </a:buClr>
              <a:buSzPts val="2800"/>
              <a:buChar char="•"/>
            </a:pPr>
            <a:r>
              <a:rPr lang="en-US" sz="2000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Presentation file (PPT or PDF) (Y): submission/VITV_Pokermons_Submission.pptx</a:t>
            </a:r>
            <a:endParaRPr sz="2800"/>
          </a:p>
          <a:p>
            <a:pPr indent="0" lvl="0" marL="0" rtl="0" algn="l">
              <a:lnSpc>
                <a:spcPct val="9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2"/>
          <p:cNvSpPr txBox="1"/>
          <p:nvPr/>
        </p:nvSpPr>
        <p:spPr>
          <a:xfrm>
            <a:off x="1046181" y="3730214"/>
            <a:ext cx="676656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42B"/>
              </a:buClr>
              <a:buSzPts val="4600"/>
              <a:buFont typeface="Arial"/>
              <a:buNone/>
            </a:pPr>
            <a:r>
              <a:rPr b="1" i="0" lang="en-US" sz="4600" u="none" cap="none" strike="noStrike">
                <a:solidFill>
                  <a:srgbClr val="14142B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b="0" i="0" sz="4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12"/>
          <p:cNvSpPr txBox="1"/>
          <p:nvPr/>
        </p:nvSpPr>
        <p:spPr>
          <a:xfrm>
            <a:off x="777240" y="5897880"/>
            <a:ext cx="1060704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3637E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63637E"/>
                </a:solidFill>
                <a:latin typeface="Calibri"/>
                <a:ea typeface="Calibri"/>
                <a:cs typeface="Calibri"/>
                <a:sym typeface="Calibri"/>
              </a:rPr>
              <a:t>Organised by the Language AI Team and the PRISM Team, Samsung R&amp;D Institute India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2026-09-07T12:01:01Z</dcterms:created>
  <dc:creator>Binny Lakra/PRISM /SRI-Bangalore/Professional/Samsung Electronics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SCPROP">
    <vt:lpwstr>NSCCustomProperty</vt:lpwstr>
  </property>
</Properties>
</file>